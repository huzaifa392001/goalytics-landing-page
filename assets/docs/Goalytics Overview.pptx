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245" r:id="rId2"/>
    <p:sldId id="2246" r:id="rId3"/>
    <p:sldId id="2310" r:id="rId4"/>
    <p:sldId id="2311" r:id="rId5"/>
    <p:sldId id="2244" r:id="rId6"/>
    <p:sldId id="2321" r:id="rId7"/>
    <p:sldId id="2173" r:id="rId8"/>
    <p:sldId id="2315" r:id="rId9"/>
    <p:sldId id="2316" r:id="rId10"/>
    <p:sldId id="2330" r:id="rId11"/>
    <p:sldId id="2335" r:id="rId12"/>
    <p:sldId id="284" r:id="rId13"/>
    <p:sldId id="2336" r:id="rId14"/>
    <p:sldId id="2317" r:id="rId15"/>
  </p:sldIdLst>
  <p:sldSz cx="12192000" cy="6858000"/>
  <p:notesSz cx="6858000" cy="9144000"/>
  <p:embeddedFontLst>
    <p:embeddedFont>
      <p:font typeface="Aptos Light" panose="020B0004020202020204" pitchFamily="34" charset="0"/>
      <p:regular r:id="rId17"/>
      <p:italic r:id="rId18"/>
    </p:embeddedFont>
    <p:embeddedFont>
      <p:font typeface="Linik Sans" panose="02000503000000020004" pitchFamily="2" charset="0"/>
      <p:regular r:id="rId19"/>
      <p:bold r:id="rId20"/>
      <p:italic r:id="rId21"/>
      <p:boldItalic r:id="rId22"/>
    </p:embeddedFont>
    <p:embeddedFont>
      <p:font typeface="Linik Sans ExtraLight" panose="02000503000000020004" pitchFamily="2" charset="0"/>
      <p:regular r:id="rId23"/>
      <p:italic r:id="rId24"/>
    </p:embeddedFont>
    <p:embeddedFont>
      <p:font typeface="Linik Sans Light" panose="02000503000000020004" pitchFamily="2" charset="0"/>
      <p:regular r:id="rId25"/>
      <p:italic r:id="rId26"/>
    </p:embeddedFont>
    <p:embeddedFont>
      <p:font typeface="Linik Sans Medium" panose="02000503000000020004" pitchFamily="2" charset="0"/>
      <p:regular r:id="rId27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366" userDrawn="1">
          <p15:clr>
            <a:srgbClr val="A4A3A4"/>
          </p15:clr>
        </p15:guide>
        <p15:guide id="3" orient="horz" pos="709" userDrawn="1">
          <p15:clr>
            <a:srgbClr val="A4A3A4"/>
          </p15:clr>
        </p15:guide>
        <p15:guide id="4" pos="5133" userDrawn="1">
          <p15:clr>
            <a:srgbClr val="A4A3A4"/>
          </p15:clr>
        </p15:guide>
        <p15:guide id="5" orient="horz" pos="2568" userDrawn="1">
          <p15:clr>
            <a:srgbClr val="A4A3A4"/>
          </p15:clr>
        </p15:guide>
        <p15:guide id="6" orient="horz" pos="3407" userDrawn="1">
          <p15:clr>
            <a:srgbClr val="A4A3A4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86" roundtripDataSignature="AMtx7mhM9hCYWJJLa9oSvnwNyzYmzuY9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4D61"/>
    <a:srgbClr val="FFFFFF"/>
    <a:srgbClr val="C9C9C9"/>
    <a:srgbClr val="F9BBAE"/>
    <a:srgbClr val="FB7F87"/>
    <a:srgbClr val="BEE2E0"/>
    <a:srgbClr val="8BDAB3"/>
    <a:srgbClr val="9BB5D3"/>
    <a:srgbClr val="FAD8BD"/>
    <a:srgbClr val="FEFA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/>
    <p:restoredTop sz="96096"/>
  </p:normalViewPr>
  <p:slideViewPr>
    <p:cSldViewPr snapToGrid="0">
      <p:cViewPr>
        <p:scale>
          <a:sx n="150" d="100"/>
          <a:sy n="150" d="100"/>
        </p:scale>
        <p:origin x="1288" y="72"/>
      </p:cViewPr>
      <p:guideLst>
        <p:guide orient="horz" pos="2296"/>
        <p:guide pos="2366"/>
        <p:guide orient="horz" pos="709"/>
        <p:guide pos="5133"/>
        <p:guide orient="horz" pos="2568"/>
        <p:guide orient="horz" pos="340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90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86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all about </a:t>
            </a:r>
            <a:r>
              <a:rPr lang="en-US" dirty="0" err="1"/>
              <a:t>th</a:t>
            </a:r>
            <a:r>
              <a:rPr lang="en-US" dirty="0"/>
              <a:t> R in the </a:t>
            </a:r>
            <a:r>
              <a:rPr lang="en-US" dirty="0" err="1"/>
              <a:t>okrs</a:t>
            </a:r>
            <a:r>
              <a:rPr lang="en-US" dirty="0"/>
              <a:t> </a:t>
            </a:r>
            <a:r>
              <a:rPr lang="en-US" dirty="0" err="1"/>
              <a:t>nd</a:t>
            </a:r>
            <a:r>
              <a:rPr lang="en-US" dirty="0"/>
              <a:t> we </a:t>
            </a:r>
            <a:r>
              <a:rPr lang="en-US" dirty="0" err="1"/>
              <a:t>compae</a:t>
            </a:r>
            <a:r>
              <a:rPr lang="en-US" dirty="0"/>
              <a:t> ourselves with the smart watch</a:t>
            </a:r>
          </a:p>
          <a:p>
            <a:endParaRPr lang="en-US" dirty="0"/>
          </a:p>
          <a:p>
            <a:r>
              <a:rPr lang="en-US" dirty="0"/>
              <a:t>“Thanks for having us. Today we want to talk about one thing: how NFDC can get </a:t>
            </a:r>
            <a:r>
              <a:rPr lang="en-US" b="1" dirty="0"/>
              <a:t>more realized results</a:t>
            </a:r>
            <a:r>
              <a:rPr lang="en-US" dirty="0"/>
              <a:t> out of the strategies, goals, and projects you already have.</a:t>
            </a:r>
          </a:p>
          <a:p>
            <a:r>
              <a:rPr lang="en-US" dirty="0"/>
              <a:t>You’re already doing the hard work—planning, prioritizing, delivering major facilities programs. </a:t>
            </a:r>
            <a:r>
              <a:rPr lang="en-US" dirty="0" err="1"/>
              <a:t>Goalytics</a:t>
            </a:r>
            <a:r>
              <a:rPr lang="en-US" dirty="0"/>
              <a:t> is about tightening the connection between those plans and the actual outcomes in your portfolio.</a:t>
            </a:r>
          </a:p>
          <a:p>
            <a:r>
              <a:rPr lang="en-US" dirty="0"/>
              <a:t>We’ll focus on three ideas: </a:t>
            </a:r>
            <a:r>
              <a:rPr lang="en-US" b="1" dirty="0"/>
              <a:t>goals</a:t>
            </a:r>
            <a:r>
              <a:rPr lang="en-US" dirty="0"/>
              <a:t>, </a:t>
            </a:r>
            <a:r>
              <a:rPr lang="en-US" b="1" dirty="0"/>
              <a:t>roles</a:t>
            </a:r>
            <a:r>
              <a:rPr lang="en-US" dirty="0"/>
              <a:t>, and </a:t>
            </a:r>
            <a:r>
              <a:rPr lang="en-US" b="1" dirty="0"/>
              <a:t>results</a:t>
            </a:r>
            <a:r>
              <a:rPr lang="en-US" dirty="0"/>
              <a:t> — and how a more disciplined, data-driven OKR practice can unlock value across Kaiser’s facilities and workplace investments.”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439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94E72-63AE-C1E3-52E0-39CA8F90E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B946A-7189-DEA9-25B3-E69BFE772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829F7-DF6C-CA42-F0DE-6CF2A5B8E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bring three things together: large-scale workplace programs, strategy and OKR design, and AI product build.”</a:t>
            </a:r>
          </a:p>
          <a:p>
            <a:r>
              <a:rPr lang="en-US"/>
              <a:t>“Our goal isn’t a shiny tool; it’s a repeatable </a:t>
            </a:r>
            <a:r>
              <a:rPr lang="en-US" b="1"/>
              <a:t>management system</a:t>
            </a:r>
            <a:r>
              <a:rPr lang="en-US"/>
              <a:t> for your capital program.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“Very briefly on us. Nida brings deep experience in </a:t>
            </a:r>
            <a:r>
              <a:rPr lang="en-US" b="1"/>
              <a:t>workplace, culture, and change and </a:t>
            </a:r>
            <a:r>
              <a:rPr lang="en-US" b="1" err="1"/>
              <a:t>expreince</a:t>
            </a:r>
            <a:r>
              <a:rPr lang="en-US" b="1"/>
              <a:t> to connect strategy to execution</a:t>
            </a:r>
            <a:r>
              <a:rPr lang="en-US"/>
              <a:t>—how environments and programs land with people. Stephen brings </a:t>
            </a:r>
            <a:r>
              <a:rPr lang="en-US" b="1"/>
              <a:t>strategy </a:t>
            </a:r>
            <a:r>
              <a:rPr lang="en-US"/>
              <a:t>experience from advising large enterprises. Umair brings the </a:t>
            </a:r>
            <a:r>
              <a:rPr lang="en-US" b="1"/>
              <a:t>full-stack technology</a:t>
            </a:r>
            <a:r>
              <a:rPr lang="en-US"/>
              <a:t> capability to actually build and scale platforms that work in complex organizations.</a:t>
            </a:r>
          </a:p>
          <a:p>
            <a:r>
              <a:rPr lang="en-US"/>
              <a:t>Together, we’re focused on one thing that matters to this group: turning your existing capital and workplace efforts into </a:t>
            </a:r>
            <a:r>
              <a:rPr lang="en-US" b="1"/>
              <a:t>repeatable, measurable, and improvable</a:t>
            </a:r>
            <a:r>
              <a:rPr lang="en-US"/>
              <a:t> results across NFDC.”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FF27B-BF4D-9A68-9469-16C1A987A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6730AE-54FD-1B42-9253-6420E9EF173C}" type="slidenum">
              <a:rPr lang="en-CA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09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Agenda</a:t>
            </a:r>
          </a:p>
          <a:p>
            <a:r>
              <a:rPr lang="en-US"/>
              <a:t>“We’ll cover: the problem we see, our approach, how </a:t>
            </a:r>
            <a:r>
              <a:rPr lang="en-US" err="1"/>
              <a:t>Goalytics</a:t>
            </a:r>
            <a:r>
              <a:rPr lang="en-US"/>
              <a:t> works, and what this could mean in dollars and impact for NFDC.”</a:t>
            </a:r>
          </a:p>
          <a:p>
            <a:r>
              <a:rPr lang="en-US"/>
              <a:t>“We’ll end with a simple, low-risk pilot you could start in 2026.”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“Here’s what you can expect from this session.</a:t>
            </a:r>
          </a:p>
          <a:p>
            <a:r>
              <a:rPr lang="en-US"/>
              <a:t>First, </a:t>
            </a:r>
            <a:r>
              <a:rPr lang="en-US" b="1"/>
              <a:t>why </a:t>
            </a:r>
            <a:r>
              <a:rPr lang="en-US" b="1" err="1"/>
              <a:t>Goalytics</a:t>
            </a:r>
            <a:r>
              <a:rPr lang="en-US"/>
              <a:t> – the problem we see in large capital programs like NFDC. Second, </a:t>
            </a:r>
            <a:r>
              <a:rPr lang="en-US" b="1"/>
              <a:t>who we are</a:t>
            </a:r>
            <a:r>
              <a:rPr lang="en-US"/>
              <a:t> and how our backgrounds in workplace, strategy, and AI come together. Third, our </a:t>
            </a:r>
            <a:r>
              <a:rPr lang="en-US" b="1"/>
              <a:t>point of view</a:t>
            </a:r>
            <a:r>
              <a:rPr lang="en-US"/>
              <a:t> on OKRs and how they should connect strategy to execution.</a:t>
            </a:r>
          </a:p>
          <a:p>
            <a:r>
              <a:rPr lang="en-US"/>
              <a:t>Then, we’ll show you </a:t>
            </a:r>
            <a:r>
              <a:rPr lang="en-US" b="1"/>
              <a:t>how the platform works</a:t>
            </a:r>
            <a:r>
              <a:rPr lang="en-US"/>
              <a:t>, share a view of the </a:t>
            </a:r>
            <a:r>
              <a:rPr lang="en-US" b="1"/>
              <a:t>ROI and opportunities for NFDC</a:t>
            </a:r>
            <a:r>
              <a:rPr lang="en-US"/>
              <a:t>, and finish with a </a:t>
            </a:r>
            <a:r>
              <a:rPr lang="en-US" b="1"/>
              <a:t>minimum viable pilot</a:t>
            </a:r>
            <a:r>
              <a:rPr lang="en-US"/>
              <a:t> we could run together in 2026.”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89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“OKRs and goals are everywhere, but they’re hard to manage at scale across sites, vendors, and years.”</a:t>
            </a:r>
          </a:p>
          <a:p>
            <a:r>
              <a:rPr lang="en-US"/>
              <a:t>“We’ll show how to make your priorities, projects, and outcomes easier to align, own, and measure.”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“Most organizations – including Kaiser – use some form of goals and OKRs. The challenge is that, in practice, they’re often </a:t>
            </a:r>
            <a:r>
              <a:rPr lang="en-US" b="1"/>
              <a:t>poorly organized</a:t>
            </a:r>
            <a:r>
              <a:rPr lang="en-US"/>
              <a:t>, they get </a:t>
            </a:r>
            <a:r>
              <a:rPr lang="en-US" b="1"/>
              <a:t>set and forgotten</a:t>
            </a:r>
            <a:r>
              <a:rPr lang="en-US"/>
              <a:t>, and they drift into long lists of tasks rather than clear, measurable results.</a:t>
            </a:r>
          </a:p>
          <a:p>
            <a:r>
              <a:rPr lang="en-US"/>
              <a:t>For NFDC, that shows up as: lots of initiatives, lots of activity, but not always a clean line of sight to value for members and clinicians.</a:t>
            </a:r>
          </a:p>
          <a:p>
            <a:r>
              <a:rPr lang="en-US"/>
              <a:t>Our solution is to bring </a:t>
            </a:r>
            <a:r>
              <a:rPr lang="en-US" b="1"/>
              <a:t>rigorous structuring</a:t>
            </a:r>
            <a:r>
              <a:rPr lang="en-US"/>
              <a:t>, </a:t>
            </a:r>
            <a:r>
              <a:rPr lang="en-US" b="1"/>
              <a:t>clear business flows</a:t>
            </a:r>
            <a:r>
              <a:rPr lang="en-US"/>
              <a:t>, and </a:t>
            </a:r>
            <a:r>
              <a:rPr lang="en-US" b="1"/>
              <a:t>meaningful analytics</a:t>
            </a:r>
            <a:r>
              <a:rPr lang="en-US"/>
              <a:t> to your existing goals so they’re easier to own, track, and improve at every level.”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0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Start with Goals (left)</a:t>
            </a:r>
            <a:br>
              <a:rPr lang="en-US"/>
            </a:br>
            <a:r>
              <a:rPr lang="en-US"/>
              <a:t>“We start here with our </a:t>
            </a:r>
            <a:r>
              <a:rPr lang="en-US" b="1"/>
              <a:t>goals</a:t>
            </a:r>
            <a:r>
              <a:rPr lang="en-US"/>
              <a:t> – the strategic hypotheses that come out of planning sessions: what we think will move the needle.”</a:t>
            </a:r>
          </a:p>
          <a:p>
            <a:r>
              <a:rPr lang="en-US" b="1"/>
              <a:t>Jump to Results (right) – the gap</a:t>
            </a:r>
            <a:br>
              <a:rPr lang="en-US"/>
            </a:br>
            <a:r>
              <a:rPr lang="en-US"/>
              <a:t>“On the other side we have </a:t>
            </a:r>
            <a:r>
              <a:rPr lang="en-US" b="1"/>
              <a:t>results</a:t>
            </a:r>
            <a:r>
              <a:rPr lang="en-US"/>
              <a:t> – the real work being managed day to day in tools like Asana, </a:t>
            </a:r>
            <a:r>
              <a:rPr lang="en-US" err="1"/>
              <a:t>ClickUp</a:t>
            </a:r>
            <a:r>
              <a:rPr lang="en-US"/>
              <a:t>, </a:t>
            </a:r>
            <a:r>
              <a:rPr lang="en-US" err="1"/>
              <a:t>monday.com</a:t>
            </a:r>
            <a:r>
              <a:rPr lang="en-US"/>
              <a:t>, Notion, Project.</a:t>
            </a:r>
            <a:br>
              <a:rPr lang="en-US"/>
            </a:br>
            <a:r>
              <a:rPr lang="en-US"/>
              <a:t>The problem is, these tasks and projects can easily drift away from the original goals. That gap is the </a:t>
            </a:r>
            <a:r>
              <a:rPr lang="en-US" i="1"/>
              <a:t>missing link</a:t>
            </a:r>
            <a:r>
              <a:rPr lang="en-US"/>
              <a:t> between strategy and outcomes.”</a:t>
            </a:r>
          </a:p>
          <a:p>
            <a:r>
              <a:rPr lang="en-US" b="1"/>
              <a:t>Introduce Roles &amp; GOALYTICS (center)</a:t>
            </a:r>
            <a:br>
              <a:rPr lang="en-US"/>
            </a:br>
            <a:r>
              <a:rPr lang="en-US"/>
              <a:t>“GOALYTICS sits in the middle with </a:t>
            </a:r>
            <a:r>
              <a:rPr lang="en-US" b="1"/>
              <a:t>roles</a:t>
            </a:r>
            <a:r>
              <a:rPr lang="en-US"/>
              <a:t>. We translate those high-level goals into clear OKRs, assign ownership, and connect them to the work already happening in those tools—so every project knows which goal it serves and who’s accountable.”</a:t>
            </a:r>
          </a:p>
          <a:p>
            <a:r>
              <a:rPr lang="en-US" b="1"/>
              <a:t>Close the loop with Learn (bottom)</a:t>
            </a:r>
            <a:br>
              <a:rPr lang="en-US"/>
            </a:br>
            <a:r>
              <a:rPr lang="en-US"/>
              <a:t>“Because goals, roles, and results are connected, we can </a:t>
            </a:r>
            <a:r>
              <a:rPr lang="en-US" b="1"/>
              <a:t>learn</a:t>
            </a:r>
            <a:r>
              <a:rPr lang="en-US"/>
              <a:t> from what actually happens—see what worked, what didn’t, and feed that back into the next round of goals.”</a:t>
            </a:r>
          </a:p>
          <a:p>
            <a:r>
              <a:rPr lang="en-US" b="1"/>
              <a:t>Single takeaway</a:t>
            </a:r>
            <a:br>
              <a:rPr lang="en-US"/>
            </a:br>
            <a:r>
              <a:rPr lang="en-US"/>
              <a:t>“In short: goals set the direction, execution tools do the work, and GOALYTICS provides the accountability layer that ties them together and turns outcomes into advantage.”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A1055-A080-72A4-116E-762C5156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222DA-7D1B-2BAF-D7C4-673220EC4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5C1EA-BDD4-C3BF-13B4-3304D5A59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Key Results (right)</a:t>
            </a:r>
            <a:br>
              <a:rPr lang="en-US"/>
            </a:br>
            <a:r>
              <a:rPr lang="en-US"/>
              <a:t>“We start on the right with </a:t>
            </a:r>
            <a:r>
              <a:rPr lang="en-US" b="1"/>
              <a:t>Key Results</a:t>
            </a:r>
            <a:r>
              <a:rPr lang="en-US"/>
              <a:t> – the day-to-day numbers we live with in NFDC: opening dates, budget, safety, quality checks. This is the work you feel in your projects.”</a:t>
            </a:r>
          </a:p>
          <a:p>
            <a:r>
              <a:rPr lang="en-US" b="1"/>
              <a:t>Objectives</a:t>
            </a:r>
            <a:br>
              <a:rPr lang="en-US"/>
            </a:br>
            <a:r>
              <a:rPr lang="en-US"/>
              <a:t>“Those KRs roll up into </a:t>
            </a:r>
            <a:r>
              <a:rPr lang="en-US" b="1"/>
              <a:t>Objectives</a:t>
            </a:r>
            <a:r>
              <a:rPr lang="en-US"/>
              <a:t> – things like ‘deliver this MOB ready for patients’ or ‘standardize this design kit across regions.’ They describe what success looks like for a project this year.”</a:t>
            </a:r>
          </a:p>
          <a:p>
            <a:r>
              <a:rPr lang="en-US" b="1"/>
              <a:t>Goals (middle)</a:t>
            </a:r>
            <a:br>
              <a:rPr lang="en-US"/>
            </a:br>
            <a:r>
              <a:rPr lang="en-US"/>
              <a:t>“Those Objectives support our bigger </a:t>
            </a:r>
            <a:r>
              <a:rPr lang="en-US" b="1"/>
              <a:t>NFDC Goals</a:t>
            </a:r>
            <a:r>
              <a:rPr lang="en-US"/>
              <a:t> – reliably delivering capital projects, creating great care environments, and being a trusted partner to the regions.”</a:t>
            </a:r>
          </a:p>
          <a:p>
            <a:r>
              <a:rPr lang="en-US" b="1"/>
              <a:t>Priorities (left)</a:t>
            </a:r>
            <a:br>
              <a:rPr lang="en-US"/>
            </a:br>
            <a:r>
              <a:rPr lang="en-US"/>
              <a:t>“All of that ladders up into a few Kaiser </a:t>
            </a:r>
            <a:r>
              <a:rPr lang="en-US" b="1"/>
              <a:t>Priorities</a:t>
            </a:r>
            <a:r>
              <a:rPr lang="en-US"/>
              <a:t> – access, affordability, quality, and caregiver experience. That’s the real ‘why’ behind our work.”</a:t>
            </a:r>
          </a:p>
          <a:p>
            <a:r>
              <a:rPr lang="en-US" b="1"/>
              <a:t>Single takeaway:</a:t>
            </a:r>
            <a:br>
              <a:rPr lang="en-US"/>
            </a:br>
            <a:r>
              <a:rPr lang="en-US"/>
              <a:t>“For NFDC, every Key Result on the right should clearly connect back to a Kaiser priority on the left—if we can’t see that line, we should question why we’re doing it.”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“Think of a chain: Kaiser priorities → NFDC goals → project-level objectives → key results.”</a:t>
            </a:r>
          </a:p>
          <a:p>
            <a:r>
              <a:rPr lang="en-US"/>
              <a:t>“Today, this chain exists, but it’s often implicit. We make it explicit, traceable, and visible.”</a:t>
            </a:r>
          </a:p>
          <a:p>
            <a:br>
              <a:rPr lang="en-US"/>
            </a:br>
            <a:endParaRPr lang="en-US"/>
          </a:p>
          <a:p>
            <a:r>
              <a:rPr lang="en-US"/>
              <a:t>Priorities are the ‘why’; goals are the multi-year ‘what’; objectives are the annual ‘how’; key results are the proof.”</a:t>
            </a:r>
          </a:p>
          <a:p>
            <a:r>
              <a:rPr lang="en-US"/>
              <a:t>“Key results focus on </a:t>
            </a:r>
            <a:r>
              <a:rPr lang="en-US" b="1"/>
              <a:t>outcomes</a:t>
            </a:r>
            <a:r>
              <a:rPr lang="en-US"/>
              <a:t>, not task lists, and each has a named owner.”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“An OKR is only useful if everyone can see the higher-level priority it serves.”</a:t>
            </a:r>
          </a:p>
          <a:p>
            <a:r>
              <a:rPr lang="en-US"/>
              <a:t>“We connect each OKR upward to Kaiser/NFDC priorities and downward to specific projects and teams.”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br>
              <a:rPr lang="en-US"/>
            </a:b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88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1. Structure + Knowledge (first)</a:t>
            </a:r>
          </a:p>
          <a:p>
            <a:r>
              <a:rPr lang="en-US"/>
              <a:t>“We start with two ingredients: </a:t>
            </a:r>
            <a:r>
              <a:rPr lang="en-US" b="1"/>
              <a:t>Structure</a:t>
            </a:r>
            <a:r>
              <a:rPr lang="en-US"/>
              <a:t>—how work is organized—and </a:t>
            </a:r>
            <a:r>
              <a:rPr lang="en-US" b="1"/>
              <a:t>Knowledge</a:t>
            </a:r>
            <a:r>
              <a:rPr lang="en-US"/>
              <a:t>—what people actually think, decide, and learn on NFDC projects. </a:t>
            </a:r>
            <a:r>
              <a:rPr lang="en-US" err="1"/>
              <a:t>Goalytics</a:t>
            </a:r>
            <a:r>
              <a:rPr lang="en-US"/>
              <a:t> connects those two.”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2. Org Strategy → Org Priorities</a:t>
            </a:r>
          </a:p>
          <a:p>
            <a:r>
              <a:rPr lang="en-US"/>
              <a:t>“First, we take </a:t>
            </a:r>
            <a:r>
              <a:rPr lang="en-US" b="1"/>
              <a:t>Org Strategy</a:t>
            </a:r>
            <a:r>
              <a:rPr lang="en-US"/>
              <a:t> and turn it into a small set of </a:t>
            </a:r>
            <a:r>
              <a:rPr lang="en-US" b="1"/>
              <a:t>Org Priorities</a:t>
            </a:r>
            <a:r>
              <a:rPr lang="en-US"/>
              <a:t>—the big bets leadership is making.”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3. Team Plan → Goals</a:t>
            </a:r>
          </a:p>
          <a:p>
            <a:r>
              <a:rPr lang="en-US"/>
              <a:t>“Those priorities become an NFDC </a:t>
            </a:r>
            <a:r>
              <a:rPr lang="en-US" b="1"/>
              <a:t>Team Plan</a:t>
            </a:r>
            <a:r>
              <a:rPr lang="en-US"/>
              <a:t> and clear </a:t>
            </a:r>
            <a:r>
              <a:rPr lang="en-US" b="1"/>
              <a:t>Goals</a:t>
            </a:r>
            <a:r>
              <a:rPr lang="en-US"/>
              <a:t> for our major work streams, like stakeholder engagement or pre-engineered MOB design.”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4. Project Plan → OKRs</a:t>
            </a:r>
          </a:p>
          <a:p>
            <a:r>
              <a:rPr lang="en-US"/>
              <a:t>“Each goal then has a </a:t>
            </a:r>
            <a:r>
              <a:rPr lang="en-US" b="1"/>
              <a:t>Project Plan</a:t>
            </a:r>
            <a:r>
              <a:rPr lang="en-US"/>
              <a:t> with specific </a:t>
            </a:r>
            <a:r>
              <a:rPr lang="en-US" b="1"/>
              <a:t>OKRs</a:t>
            </a:r>
            <a:r>
              <a:rPr lang="en-US"/>
              <a:t>, so every initiative knows exactly what success looks like this year.”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5. Analysis → Insights</a:t>
            </a:r>
          </a:p>
          <a:p>
            <a:r>
              <a:rPr lang="en-US"/>
              <a:t>“As work happens, </a:t>
            </a:r>
            <a:r>
              <a:rPr lang="en-US" err="1"/>
              <a:t>Goalytics</a:t>
            </a:r>
            <a:r>
              <a:rPr lang="en-US"/>
              <a:t> pulls the data into </a:t>
            </a:r>
            <a:r>
              <a:rPr lang="en-US" b="1"/>
              <a:t>Analysis</a:t>
            </a:r>
            <a:r>
              <a:rPr lang="en-US"/>
              <a:t> and turns it into </a:t>
            </a:r>
            <a:r>
              <a:rPr lang="en-US" b="1"/>
              <a:t>Insights</a:t>
            </a:r>
            <a:r>
              <a:rPr lang="en-US"/>
              <a:t>—what’s on track, what’s stuck, and what we’re learning across projects.”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6. Insights loop back to Strategy</a:t>
            </a:r>
          </a:p>
          <a:p>
            <a:r>
              <a:rPr lang="en-US"/>
              <a:t>“Those insights loop back into </a:t>
            </a:r>
            <a:r>
              <a:rPr lang="en-US" b="1"/>
              <a:t>Org Strategy and Priorities</a:t>
            </a:r>
            <a:r>
              <a:rPr lang="en-US"/>
              <a:t>, so each planning cycle is smarter than the last.”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7. Goals / Roles / Results bars appear</a:t>
            </a:r>
          </a:p>
          <a:p>
            <a:r>
              <a:rPr lang="en-US"/>
              <a:t>“Across the top you can see how </a:t>
            </a:r>
            <a:r>
              <a:rPr lang="en-US" err="1"/>
              <a:t>Goalytics</a:t>
            </a:r>
            <a:r>
              <a:rPr lang="en-US"/>
              <a:t> runs this as a system: clear </a:t>
            </a:r>
            <a:r>
              <a:rPr lang="en-US" b="1"/>
              <a:t>Goals</a:t>
            </a:r>
            <a:r>
              <a:rPr lang="en-US"/>
              <a:t>, explicit </a:t>
            </a:r>
            <a:r>
              <a:rPr lang="en-US" b="1"/>
              <a:t>Roles</a:t>
            </a:r>
            <a:r>
              <a:rPr lang="en-US"/>
              <a:t>, and visible </a:t>
            </a:r>
            <a:r>
              <a:rPr lang="en-US" b="1"/>
              <a:t>Results</a:t>
            </a:r>
            <a:r>
              <a:rPr lang="en-US"/>
              <a:t>—so NFDC turns everyday project work into a repeatable advantage.”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801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12A7-E94C-B624-0A2F-3284B6948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275D9-C84E-983C-62C7-8F17C3DCD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BE6AC-976B-6C64-34C8-6B6371416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r>
              <a:rPr lang="en-US" b="1"/>
              <a:t>Intelligent Planner</a:t>
            </a:r>
            <a:br>
              <a:rPr lang="en-US"/>
            </a:br>
            <a:r>
              <a:rPr lang="en-US"/>
              <a:t>“Turn Kaiser priorities into clear NFDC objectives and KRs, fast.”</a:t>
            </a:r>
          </a:p>
          <a:p>
            <a:r>
              <a:rPr lang="en-US" b="1"/>
              <a:t>Active Collaboration</a:t>
            </a:r>
            <a:br>
              <a:rPr lang="en-US"/>
            </a:br>
            <a:r>
              <a:rPr lang="en-US"/>
              <a:t>“Lock in OKR roles and automate the check-ins and reporting.”</a:t>
            </a:r>
          </a:p>
          <a:p>
            <a:r>
              <a:rPr lang="en-US" b="1"/>
              <a:t>Progress Tracking</a:t>
            </a:r>
            <a:br>
              <a:rPr lang="en-US"/>
            </a:br>
            <a:r>
              <a:rPr lang="en-US"/>
              <a:t>“See real-time project status and updates in one place.”</a:t>
            </a:r>
          </a:p>
          <a:p>
            <a:r>
              <a:rPr lang="en-US" b="1"/>
              <a:t>Actionable Insights</a:t>
            </a:r>
            <a:br>
              <a:rPr lang="en-US"/>
            </a:br>
            <a:r>
              <a:rPr lang="en-US"/>
              <a:t>“Spot risks early, see patterns, and capture learnings.”</a:t>
            </a:r>
          </a:p>
          <a:p>
            <a:r>
              <a:rPr lang="en-US" b="1"/>
              <a:t>Single takeaway</a:t>
            </a:r>
            <a:br>
              <a:rPr lang="en-US"/>
            </a:br>
            <a:r>
              <a:rPr lang="en-US"/>
              <a:t>“One loop for NFDC: plan, execute, see progress, and learn—without extra admin.”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Most teams live in a ‘manual and solo’ world — each leader reinventing the wheel.”</a:t>
            </a:r>
          </a:p>
          <a:p>
            <a:r>
              <a:rPr lang="en-US"/>
              <a:t>“We move NFDC to ‘collaborative and AI-assisted’ — a shared structure, with smart support baked in.”</a:t>
            </a:r>
          </a:p>
          <a:p>
            <a:r>
              <a:rPr lang="en-US"/>
              <a:t>For leaders in this room, it’s a way to turn a messy set of goals, dashboards, and reports into a single, intelligent view of how your strategy is performing in practice.”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0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89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A2D86-7836-E7CD-27FF-38CA5FAF9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797C8-759C-29F5-706D-E3BFD12D1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0DFDF0-10C4-AC6B-FE1B-81076CEAB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r>
              <a:rPr lang="en-US" b="1"/>
              <a:t>Intelligent Planner</a:t>
            </a:r>
            <a:br>
              <a:rPr lang="en-US"/>
            </a:br>
            <a:r>
              <a:rPr lang="en-US"/>
              <a:t>“Turn Kaiser priorities into clear NFDC objectives and KRs, fast.”</a:t>
            </a:r>
          </a:p>
          <a:p>
            <a:r>
              <a:rPr lang="en-US" b="1"/>
              <a:t>Active Collaboration</a:t>
            </a:r>
            <a:br>
              <a:rPr lang="en-US"/>
            </a:br>
            <a:r>
              <a:rPr lang="en-US"/>
              <a:t>“Lock in OKR roles and automate the check-ins and reporting.”</a:t>
            </a:r>
          </a:p>
          <a:p>
            <a:r>
              <a:rPr lang="en-US" b="1"/>
              <a:t>Progress Tracking</a:t>
            </a:r>
            <a:br>
              <a:rPr lang="en-US"/>
            </a:br>
            <a:r>
              <a:rPr lang="en-US"/>
              <a:t>“See real-time project status and updates in one place.”</a:t>
            </a:r>
          </a:p>
          <a:p>
            <a:r>
              <a:rPr lang="en-US" b="1"/>
              <a:t>Actionable Insights</a:t>
            </a:r>
            <a:br>
              <a:rPr lang="en-US"/>
            </a:br>
            <a:r>
              <a:rPr lang="en-US"/>
              <a:t>“Spot risks early, see patterns, and capture learnings.”</a:t>
            </a:r>
          </a:p>
          <a:p>
            <a:r>
              <a:rPr lang="en-US" b="1"/>
              <a:t>Single takeaway</a:t>
            </a:r>
            <a:br>
              <a:rPr lang="en-US"/>
            </a:br>
            <a:r>
              <a:rPr lang="en-US"/>
              <a:t>“One loop for NFDC: plan, execute, see progress, and learn—without extra admin.”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Most teams live in a ‘manual and solo’ world — each leader reinventing the wheel.”</a:t>
            </a:r>
          </a:p>
          <a:p>
            <a:r>
              <a:rPr lang="en-US"/>
              <a:t>“We move NFDC to ‘collaborative and AI-assisted’ — a shared structure, with smart support baked in.”</a:t>
            </a:r>
          </a:p>
          <a:p>
            <a:r>
              <a:rPr lang="en-US"/>
              <a:t>For leaders in this room, it’s a way to turn a messy set of goals, dashboards, and reports into a single, intelligent view of how your strategy is performing in practice.”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83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PK"/>
              <a:pPr/>
              <a:t>‹#›</a:t>
            </a:fld>
            <a:endParaRPr lang="en-P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C79931-B08E-FFFA-B311-54FE2F9E34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6616" y="321276"/>
            <a:ext cx="1856563" cy="3791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2"/>
          </p:nvPr>
        </p:nvSpPr>
        <p:spPr>
          <a:xfrm>
            <a:off x="839789" y="2505076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4"/>
          </p:nvPr>
        </p:nvSpPr>
        <p:spPr>
          <a:xfrm>
            <a:off x="6172201" y="2505076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PK"/>
              <a:pPr/>
              <a:t>‹#›</a:t>
            </a:fld>
            <a:endParaRPr lang="en-PK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E0B66A-FF82-9A45-A12C-19BBC198A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34" b="89623" l="4046" r="93901">
                        <a14:foregroundMark x1="4046" y1="40881" x2="4046" y2="40881"/>
                        <a14:foregroundMark x1="11353" y1="35849" x2="11353" y2="35849"/>
                        <a14:foregroundMark x1="14674" y1="39623" x2="14674" y2="39623"/>
                        <a14:foregroundMark x1="17935" y1="51258" x2="17935" y2="51258"/>
                        <a14:foregroundMark x1="33816" y1="44025" x2="33816" y2="44025"/>
                        <a14:foregroundMark x1="46014" y1="44025" x2="46014" y2="44025"/>
                        <a14:foregroundMark x1="53744" y1="44654" x2="53744" y2="44654"/>
                        <a14:foregroundMark x1="59662" y1="37421" x2="59662" y2="37421"/>
                        <a14:foregroundMark x1="69203" y1="31447" x2="69203" y2="31447"/>
                        <a14:foregroundMark x1="76510" y1="59119" x2="76510" y2="59119"/>
                        <a14:foregroundMark x1="76389" y1="35849" x2="76389" y2="35849"/>
                        <a14:foregroundMark x1="79891" y1="49057" x2="79891" y2="49057"/>
                        <a14:foregroundMark x1="92512" y1="52516" x2="92512" y2="52516"/>
                        <a14:foregroundMark x1="93901" y1="73270" x2="93901" y2="73270"/>
                        <a14:foregroundMark x1="24275" y1="51887" x2="24275" y2="5188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75346" y="184649"/>
            <a:ext cx="1855970" cy="356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PK"/>
              <a:pPr/>
              <a:t>‹#›</a:t>
            </a:fld>
            <a:endParaRPr lang="en-PK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157B3A-C545-ECBE-8920-A582696975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58400" y="303421"/>
            <a:ext cx="1784626" cy="455199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324CD-49CC-3B8A-C7C4-7DB27E5228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6616" y="321276"/>
            <a:ext cx="1856563" cy="37918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41EE18-071C-9A43-304D-7868E38F67A8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7670A-0179-519D-75F9-0A8AE4B1F487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en-PK"/>
              <a:pPr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55207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43178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377" lvl="1" indent="-40639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566" lvl="2" indent="-38099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754" lvl="3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5943" lvl="4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131" lvl="5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320" lvl="6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509" lvl="7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697" lvl="8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PK"/>
              <a:pPr/>
              <a:t>‹#›</a:t>
            </a:fld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179F4C-A1DD-B8F4-E278-B8D15A5E1B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6616" y="321276"/>
            <a:ext cx="1856563" cy="3791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PK"/>
              <a:pPr/>
              <a:t>‹#›</a:t>
            </a:fld>
            <a:endParaRPr lang="en-PK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CCECDE-A32B-CBE0-B82D-33B405F1F6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6616" y="321276"/>
            <a:ext cx="1856563" cy="3791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body" idx="1"/>
          </p:nvPr>
        </p:nvSpPr>
        <p:spPr>
          <a:xfrm rot="5400000">
            <a:off x="3920332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PK"/>
              <a:pPr/>
              <a:t>‹#›</a:t>
            </a:fld>
            <a:endParaRPr lang="en-PK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8F27BA-CFED-D3D2-664C-551157EFC7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6616" y="321276"/>
            <a:ext cx="1856563" cy="3791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 rot="5400000">
            <a:off x="7133432" y="1956595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PK"/>
              <a:pPr/>
              <a:t>‹#›</a:t>
            </a:fld>
            <a:endParaRPr lang="en-PK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18F600-5A32-A36F-AAC5-7FB3DB7C55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6616" y="321276"/>
            <a:ext cx="1856563" cy="37918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PK"/>
              <a:pPr/>
              <a:t>‹#›</a:t>
            </a:fld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D64F44-DD25-5F97-F9E0-F379E20A456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9996616" y="321276"/>
            <a:ext cx="1856563" cy="37918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60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Linik Sans" panose="02000503000000020004" pitchFamily="2" charset="0"/>
          <a:ea typeface="Linik Sans" panose="02000503000000020004" pitchFamily="2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Linik Sans Light" panose="02000503000000020004" pitchFamily="2" charset="0"/>
          <a:ea typeface="Linik Sans Light" panose="02000503000000020004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6607" userDrawn="1">
          <p15:clr>
            <a:srgbClr val="F26B43"/>
          </p15:clr>
        </p15:guide>
        <p15:guide id="4" orient="horz" pos="4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3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18" Type="http://schemas.openxmlformats.org/officeDocument/2006/relationships/image" Target="../media/image12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0.png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png"/><Relationship Id="rId15" Type="http://schemas.openxmlformats.org/officeDocument/2006/relationships/image" Target="../media/image9.svg"/><Relationship Id="rId10" Type="http://schemas.openxmlformats.org/officeDocument/2006/relationships/image" Target="../media/image21.png"/><Relationship Id="rId19" Type="http://schemas.openxmlformats.org/officeDocument/2006/relationships/image" Target="../media/image13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microsoft.com/office/2007/relationships/hdphoto" Target="../media/hdphoto4.wdp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34.png"/><Relationship Id="rId3" Type="http://schemas.openxmlformats.org/officeDocument/2006/relationships/image" Target="../media/image3.emf"/><Relationship Id="rId7" Type="http://schemas.openxmlformats.org/officeDocument/2006/relationships/image" Target="../media/image30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svg"/><Relationship Id="rId11" Type="http://schemas.openxmlformats.org/officeDocument/2006/relationships/image" Target="../media/image25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1.emf"/><Relationship Id="rId9" Type="http://schemas.openxmlformats.org/officeDocument/2006/relationships/image" Target="../media/image32.png"/><Relationship Id="rId14" Type="http://schemas.openxmlformats.org/officeDocument/2006/relationships/image" Target="../media/image35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image" Target="../media/image3.emf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DD6F3-8A35-4A44-0A21-3B9E4FAA1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9729C5A-5517-1B22-4536-983F3DB1E0B5}"/>
              </a:ext>
            </a:extLst>
          </p:cNvPr>
          <p:cNvSpPr/>
          <p:nvPr/>
        </p:nvSpPr>
        <p:spPr>
          <a:xfrm>
            <a:off x="8991600" y="0"/>
            <a:ext cx="3200400" cy="1106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66E801-D07A-FED4-D039-D3F2C1DFB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850" y="2768600"/>
            <a:ext cx="7959306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53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46310-4D88-9E71-7925-FDD8B85E9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0B598C5-4705-66F5-CB2B-F9D3D650FCD2}"/>
              </a:ext>
            </a:extLst>
          </p:cNvPr>
          <p:cNvSpPr txBox="1"/>
          <p:nvPr/>
        </p:nvSpPr>
        <p:spPr>
          <a:xfrm>
            <a:off x="7486436" y="4101794"/>
            <a:ext cx="34129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2000" dirty="0">
                <a:solidFill>
                  <a:srgbClr val="0B0B0A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Reimagined.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BDAC9E-0573-F6F6-0E5A-CBCBBE72229D}"/>
              </a:ext>
            </a:extLst>
          </p:cNvPr>
          <p:cNvSpPr/>
          <p:nvPr/>
        </p:nvSpPr>
        <p:spPr>
          <a:xfrm>
            <a:off x="8991600" y="0"/>
            <a:ext cx="3200400" cy="1106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1798FA-4966-0B8F-426D-0E0D178A62AB}"/>
              </a:ext>
            </a:extLst>
          </p:cNvPr>
          <p:cNvSpPr txBox="1"/>
          <p:nvPr/>
        </p:nvSpPr>
        <p:spPr>
          <a:xfrm>
            <a:off x="745172" y="1968200"/>
            <a:ext cx="5279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Linik Sans ExtraLight" panose="02000503000000020004" pitchFamily="2" charset="0"/>
                <a:ea typeface="Linik Sans ExtraLight" panose="02000503000000020004" pitchFamily="2" charset="0"/>
              </a:rPr>
              <a:t>Get more “R” out of your OKRs.</a:t>
            </a:r>
            <a:endParaRPr lang="en-US" sz="2400" dirty="0"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9071D3-4BD7-1E61-B996-F53149A56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686" y="2956042"/>
            <a:ext cx="3153276" cy="20680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B7E1D27-933C-CAA7-F1E5-FECF884CEDD0}"/>
              </a:ext>
            </a:extLst>
          </p:cNvPr>
          <p:cNvSpPr/>
          <p:nvPr/>
        </p:nvSpPr>
        <p:spPr>
          <a:xfrm>
            <a:off x="2868195" y="3646910"/>
            <a:ext cx="705852" cy="753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B1B20B-3EB1-DFB1-DA1B-620A0D6C48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033" t="31468" r="46582" b="28969"/>
          <a:stretch>
            <a:fillRect/>
          </a:stretch>
        </p:blipFill>
        <p:spPr>
          <a:xfrm rot="237310">
            <a:off x="2804026" y="3598783"/>
            <a:ext cx="705853" cy="8181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0A6DE9-21B4-2EB6-F76E-C0F631CD92A4}"/>
              </a:ext>
            </a:extLst>
          </p:cNvPr>
          <p:cNvSpPr txBox="1"/>
          <p:nvPr/>
        </p:nvSpPr>
        <p:spPr>
          <a:xfrm>
            <a:off x="7457429" y="3442358"/>
            <a:ext cx="9791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2000">
                <a:solidFill>
                  <a:srgbClr val="0B0B0A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Goals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3979FB-DD18-2752-90C2-8C1AA4BD764F}"/>
              </a:ext>
            </a:extLst>
          </p:cNvPr>
          <p:cNvSpPr txBox="1"/>
          <p:nvPr/>
        </p:nvSpPr>
        <p:spPr>
          <a:xfrm>
            <a:off x="8244996" y="3444181"/>
            <a:ext cx="8330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2000">
                <a:solidFill>
                  <a:srgbClr val="0B0B0A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Roles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9F845D-6812-665D-E20C-6B3A64F49708}"/>
              </a:ext>
            </a:extLst>
          </p:cNvPr>
          <p:cNvSpPr txBox="1"/>
          <p:nvPr/>
        </p:nvSpPr>
        <p:spPr>
          <a:xfrm>
            <a:off x="9461099" y="3439322"/>
            <a:ext cx="12813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2000">
                <a:solidFill>
                  <a:srgbClr val="0B0B0A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Results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A3595E-E7A5-A90B-10EB-FA6FB188308E}"/>
              </a:ext>
            </a:extLst>
          </p:cNvPr>
          <p:cNvSpPr txBox="1"/>
          <p:nvPr/>
        </p:nvSpPr>
        <p:spPr>
          <a:xfrm>
            <a:off x="8127267" y="3458515"/>
            <a:ext cx="2363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2000">
                <a:solidFill>
                  <a:srgbClr val="0B0B0A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5B6A83-3B97-6BEB-E92B-9E4CEDF7C484}"/>
              </a:ext>
            </a:extLst>
          </p:cNvPr>
          <p:cNvSpPr txBox="1"/>
          <p:nvPr/>
        </p:nvSpPr>
        <p:spPr>
          <a:xfrm>
            <a:off x="8950149" y="3441699"/>
            <a:ext cx="6637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2000">
                <a:solidFill>
                  <a:srgbClr val="0B0B0A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and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739FD8-13F2-7F63-2E4F-9FFF6B35949A}"/>
              </a:ext>
            </a:extLst>
          </p:cNvPr>
          <p:cNvSpPr txBox="1"/>
          <p:nvPr/>
        </p:nvSpPr>
        <p:spPr>
          <a:xfrm>
            <a:off x="10310414" y="3439981"/>
            <a:ext cx="2216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2000">
                <a:solidFill>
                  <a:srgbClr val="0B0B0A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0CC715-705B-1D48-92DE-2F3B044EE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0889" y="1816101"/>
            <a:ext cx="5658567" cy="1155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15AB6F-3454-E9C0-1506-84EEC65DDADB}"/>
              </a:ext>
            </a:extLst>
          </p:cNvPr>
          <p:cNvSpPr txBox="1"/>
          <p:nvPr/>
        </p:nvSpPr>
        <p:spPr>
          <a:xfrm>
            <a:off x="7541673" y="5312427"/>
            <a:ext cx="3682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800" dirty="0">
                <a:solidFill>
                  <a:schemeClr val="accent1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info@goalytics.io</a:t>
            </a:r>
          </a:p>
        </p:txBody>
      </p:sp>
    </p:spTree>
    <p:extLst>
      <p:ext uri="{BB962C8B-B14F-4D97-AF65-F5344CB8AC3E}">
        <p14:creationId xmlns:p14="http://schemas.microsoft.com/office/powerpoint/2010/main" val="2623875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7" grpId="0"/>
      <p:bldP spid="12" grpId="0"/>
      <p:bldP spid="14" grpId="0"/>
      <p:bldP spid="15" grpId="0"/>
      <p:bldP spid="16" grpId="0"/>
      <p:bldP spid="17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B35AE-9600-0EE0-696D-6C7817A23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C9B9D82-4B78-C663-E7B7-AEFA3C7EEB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1200">
              <a:solidFill>
                <a:schemeClr val="bg1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D653A43-6392-3944-D2E5-4E043BB679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74"/>
          <a:stretch>
            <a:fillRect/>
          </a:stretch>
        </p:blipFill>
        <p:spPr bwMode="auto">
          <a:xfrm>
            <a:off x="1444922" y="1684507"/>
            <a:ext cx="2262866" cy="2270088"/>
          </a:xfrm>
          <a:prstGeom prst="rect">
            <a:avLst/>
          </a:prstGeom>
          <a:noFill/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extrusionH="469900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F20BA3D-3ADD-7091-55EB-A1C8CB745A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52" r="1424"/>
          <a:stretch>
            <a:fillRect/>
          </a:stretch>
        </p:blipFill>
        <p:spPr bwMode="auto">
          <a:xfrm>
            <a:off x="4858300" y="1681371"/>
            <a:ext cx="2267951" cy="2270089"/>
          </a:xfrm>
          <a:prstGeom prst="rect">
            <a:avLst/>
          </a:prstGeom>
          <a:noFill/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6454FC-3054-C268-AA2D-7CC9DF23B6F3}"/>
              </a:ext>
            </a:extLst>
          </p:cNvPr>
          <p:cNvSpPr txBox="1"/>
          <p:nvPr/>
        </p:nvSpPr>
        <p:spPr>
          <a:xfrm>
            <a:off x="1390965" y="4084451"/>
            <a:ext cx="2664668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CA" sz="1500" spc="50">
                <a:solidFill>
                  <a:schemeClr val="tx1">
                    <a:lumMod val="85000"/>
                    <a:lumOff val="15000"/>
                  </a:schemeClr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Poppins Medium" pitchFamily="2" charset="77"/>
              </a:rPr>
              <a:t>NIDA </a:t>
            </a:r>
            <a:r>
              <a:rPr lang="en-CA" sz="1500" spc="50" err="1">
                <a:solidFill>
                  <a:schemeClr val="tx1">
                    <a:lumMod val="85000"/>
                    <a:lumOff val="15000"/>
                  </a:schemeClr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Poppins Medium" pitchFamily="2" charset="77"/>
              </a:rPr>
              <a:t>GILLIO</a:t>
            </a:r>
            <a:r>
              <a:rPr lang="en-CA" sz="1500" spc="50">
                <a:solidFill>
                  <a:schemeClr val="tx1">
                    <a:lumMod val="85000"/>
                    <a:lumOff val="15000"/>
                  </a:schemeClr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Poppins Medium" pitchFamily="2" charset="77"/>
              </a:rPr>
              <a:t>, M.CRE.</a:t>
            </a:r>
          </a:p>
          <a:p>
            <a:pPr>
              <a:spcAft>
                <a:spcPts val="400"/>
              </a:spcAft>
            </a:pPr>
            <a:r>
              <a:rPr lang="en-CA" sz="1500" spc="50">
                <a:solidFill>
                  <a:schemeClr val="tx1">
                    <a:lumMod val="85000"/>
                    <a:lumOff val="15000"/>
                  </a:schemeClr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Poppins Medium" pitchFamily="2" charset="77"/>
              </a:rPr>
              <a:t>CEO/Founder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F3345-9B30-0406-A442-BDC15C935314}"/>
              </a:ext>
            </a:extLst>
          </p:cNvPr>
          <p:cNvSpPr txBox="1"/>
          <p:nvPr/>
        </p:nvSpPr>
        <p:spPr>
          <a:xfrm>
            <a:off x="4831217" y="4054528"/>
            <a:ext cx="2649083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CA" sz="1500">
                <a:solidFill>
                  <a:schemeClr val="tx1">
                    <a:lumMod val="85000"/>
                    <a:lumOff val="15000"/>
                  </a:schemeClr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Poppins Medium" pitchFamily="2" charset="77"/>
              </a:rPr>
              <a:t>STEPHEN BUTLER, Ph.D.</a:t>
            </a:r>
          </a:p>
          <a:p>
            <a:pPr>
              <a:spcAft>
                <a:spcPts val="400"/>
              </a:spcAft>
            </a:pPr>
            <a:r>
              <a:rPr lang="en-CA" sz="1500">
                <a:solidFill>
                  <a:schemeClr val="tx1">
                    <a:lumMod val="85000"/>
                    <a:lumOff val="15000"/>
                  </a:schemeClr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Poppins Medium" pitchFamily="2" charset="77"/>
              </a:rPr>
              <a:t>CMO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7AE368-92A8-D51B-D365-65963506FE63}"/>
              </a:ext>
            </a:extLst>
          </p:cNvPr>
          <p:cNvSpPr txBox="1"/>
          <p:nvPr/>
        </p:nvSpPr>
        <p:spPr>
          <a:xfrm>
            <a:off x="8242649" y="4081512"/>
            <a:ext cx="2514251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CA" sz="1500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Poppins Medium" pitchFamily="2" charset="77"/>
              </a:rPr>
              <a:t>UMAIR KHAN, B.Eng.</a:t>
            </a:r>
          </a:p>
          <a:p>
            <a:pPr>
              <a:spcAft>
                <a:spcPts val="400"/>
              </a:spcAft>
            </a:pPr>
            <a:r>
              <a:rPr lang="en-CA" sz="1500" spc="50" dirty="0">
                <a:solidFill>
                  <a:schemeClr val="tx1">
                    <a:lumMod val="85000"/>
                    <a:lumOff val="15000"/>
                  </a:schemeClr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Poppins Medium" pitchFamily="2" charset="77"/>
              </a:rPr>
              <a:t>CTO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80780F-CF08-8E19-4B6D-2BA1D3D56CBD}"/>
              </a:ext>
            </a:extLst>
          </p:cNvPr>
          <p:cNvSpPr txBox="1"/>
          <p:nvPr/>
        </p:nvSpPr>
        <p:spPr>
          <a:xfrm>
            <a:off x="1394676" y="4768748"/>
            <a:ext cx="23899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CA" sz="1200" spc="-60" dirty="0">
                <a:latin typeface="Linik Sans ExtraLight" panose="02000503000000020004" pitchFamily="2" charset="0"/>
                <a:ea typeface="Linik Sans ExtraLight" panose="02000503000000020004" pitchFamily="2" charset="0"/>
                <a:cs typeface="Wix Madefor Text" panose="020B0503020203020203" pitchFamily="34" charset="77"/>
              </a:rPr>
              <a:t>San Francisco</a:t>
            </a:r>
          </a:p>
          <a:p>
            <a:pPr>
              <a:spcAft>
                <a:spcPts val="600"/>
              </a:spcAft>
            </a:pPr>
            <a:r>
              <a:rPr lang="en-CA" sz="1200" spc="-60" dirty="0">
                <a:latin typeface="Linik Sans ExtraLight" panose="02000503000000020004" pitchFamily="2" charset="0"/>
                <a:ea typeface="Linik Sans ExtraLight" panose="02000503000000020004" pitchFamily="2" charset="0"/>
                <a:cs typeface="Wix Madefor Text" panose="020B0503020203020203" pitchFamily="34" charset="77"/>
              </a:rPr>
              <a:t>Workplace &amp; change strategy</a:t>
            </a:r>
          </a:p>
          <a:p>
            <a:pPr>
              <a:spcAft>
                <a:spcPts val="600"/>
              </a:spcAft>
            </a:pPr>
            <a:r>
              <a:rPr lang="en-CA" sz="12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Wix Madefor Text" panose="020B0503020203020203" pitchFamily="34" charset="77"/>
              </a:rPr>
              <a:t>Founder/CEO, Caryatid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890AA5-AAE3-F679-687E-4CC07D88CF54}"/>
              </a:ext>
            </a:extLst>
          </p:cNvPr>
          <p:cNvSpPr txBox="1"/>
          <p:nvPr/>
        </p:nvSpPr>
        <p:spPr>
          <a:xfrm>
            <a:off x="4871741" y="4759509"/>
            <a:ext cx="262140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CA" sz="12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Wix Madefor Text" panose="020B0503020203020203" pitchFamily="34" charset="77"/>
              </a:rPr>
              <a:t>Calgary/San Francisco</a:t>
            </a:r>
          </a:p>
          <a:p>
            <a:pPr>
              <a:spcAft>
                <a:spcPts val="600"/>
              </a:spcAft>
            </a:pPr>
            <a:r>
              <a:rPr lang="en-CA" sz="12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Wix Madefor Text" panose="020B0503020203020203" pitchFamily="34" charset="77"/>
              </a:rPr>
              <a:t>Ex-BCG/F500 Strategy</a:t>
            </a:r>
          </a:p>
          <a:p>
            <a:pPr>
              <a:spcAft>
                <a:spcPts val="600"/>
              </a:spcAft>
            </a:pPr>
            <a:r>
              <a:rPr lang="en-CA" sz="12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Wix Madefor Text" panose="020B0503020203020203" pitchFamily="34" charset="77"/>
              </a:rPr>
              <a:t>Advisor, Invisible Technologies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B76F71-C24F-AEAF-2353-C52D6B65FC3E}"/>
              </a:ext>
            </a:extLst>
          </p:cNvPr>
          <p:cNvSpPr txBox="1"/>
          <p:nvPr/>
        </p:nvSpPr>
        <p:spPr>
          <a:xfrm>
            <a:off x="8256934" y="4681721"/>
            <a:ext cx="207202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CA" sz="12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Wix Madefor Text" panose="020B0503020203020203" pitchFamily="34" charset="77"/>
              </a:rPr>
              <a:t>Dubai</a:t>
            </a:r>
          </a:p>
          <a:p>
            <a:pPr>
              <a:spcAft>
                <a:spcPts val="600"/>
              </a:spcAft>
            </a:pPr>
            <a:r>
              <a:rPr lang="en-CA" sz="12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Wix Madefor Text" panose="020B0503020203020203" pitchFamily="34" charset="77"/>
              </a:rPr>
              <a:t>CTO, Digital Gravity </a:t>
            </a:r>
          </a:p>
          <a:p>
            <a:pPr>
              <a:spcAft>
                <a:spcPts val="600"/>
              </a:spcAft>
            </a:pPr>
            <a:r>
              <a:rPr lang="en-CA" sz="1200" spc="-60" dirty="0">
                <a:solidFill>
                  <a:schemeClr val="tx1">
                    <a:lumMod val="85000"/>
                    <a:lumOff val="15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Wix Madefor Text" panose="020B0503020203020203" pitchFamily="34" charset="77"/>
              </a:rPr>
              <a:t>Award-Winning Full-Stack Development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4B79B8A1-FBBC-63C9-6F97-4C006D4610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615"/>
          <a:stretch>
            <a:fillRect/>
          </a:stretch>
        </p:blipFill>
        <p:spPr bwMode="auto">
          <a:xfrm>
            <a:off x="8276520" y="1690399"/>
            <a:ext cx="2302580" cy="227008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F707B1-27F6-D5C6-9C13-EAEDE4D100CA}"/>
              </a:ext>
            </a:extLst>
          </p:cNvPr>
          <p:cNvSpPr txBox="1"/>
          <p:nvPr/>
        </p:nvSpPr>
        <p:spPr>
          <a:xfrm>
            <a:off x="805230" y="692150"/>
            <a:ext cx="2258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Linik Sans ExtraLight" panose="02000503000000020004" pitchFamily="2" charset="0"/>
                <a:ea typeface="Linik Sans ExtraLight" panose="02000503000000020004" pitchFamily="2" charset="0"/>
              </a:rPr>
              <a:t>Who We Are</a:t>
            </a:r>
            <a:endParaRPr lang="en-US" sz="2400"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2571DC3-3343-4DF0-28ED-3AF425561258}"/>
              </a:ext>
            </a:extLst>
          </p:cNvPr>
          <p:cNvGrpSpPr/>
          <p:nvPr/>
        </p:nvGrpSpPr>
        <p:grpSpPr>
          <a:xfrm>
            <a:off x="2741820" y="5875263"/>
            <a:ext cx="6734336" cy="521204"/>
            <a:chOff x="3629475" y="4529472"/>
            <a:chExt cx="1814361" cy="404088"/>
          </a:xfrm>
        </p:grpSpPr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EDBA4246-F730-317B-E003-5D1FB56631BD}"/>
                </a:ext>
              </a:extLst>
            </p:cNvPr>
            <p:cNvSpPr/>
            <p:nvPr/>
          </p:nvSpPr>
          <p:spPr>
            <a:xfrm>
              <a:off x="3629475" y="4531462"/>
              <a:ext cx="1807363" cy="402098"/>
            </a:xfrm>
            <a:prstGeom prst="roundRect">
              <a:avLst/>
            </a:prstGeom>
            <a:solidFill>
              <a:schemeClr val="bg1">
                <a:alpha val="33364"/>
              </a:schemeClr>
            </a:solidFill>
            <a:ln w="3175"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4C851524-DF48-345B-8049-4CF096C654BF}"/>
                </a:ext>
              </a:extLst>
            </p:cNvPr>
            <p:cNvSpPr/>
            <p:nvPr/>
          </p:nvSpPr>
          <p:spPr>
            <a:xfrm>
              <a:off x="3636473" y="4529472"/>
              <a:ext cx="1807363" cy="402098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</a:ln>
            <a:effectLst/>
            <a:scene3d>
              <a:camera prst="orthographicFront"/>
              <a:lightRig rig="threePt" dir="t"/>
            </a:scene3d>
            <a:sp3d prstMaterial="clear">
              <a:bevelT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atin typeface="Linik Sans ExtraLight" panose="02000503000000020004" pitchFamily="2" charset="0"/>
                  <a:ea typeface="Linik Sans ExtraLight" panose="02000503000000020004" pitchFamily="2" charset="0"/>
                  <a:cs typeface="Arial" panose="020B0604020202020204" pitchFamily="34" charset="0"/>
                </a:rPr>
                <a:t>+ A global team from across the U.S. to UAE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5FD7DCE-9307-58D6-05DD-750A9A94EEA8}"/>
              </a:ext>
            </a:extLst>
          </p:cNvPr>
          <p:cNvSpPr txBox="1"/>
          <p:nvPr/>
        </p:nvSpPr>
        <p:spPr>
          <a:xfrm>
            <a:off x="818696" y="1187450"/>
            <a:ext cx="34002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Linik Sans ExtraLight" panose="02000503000000020004" pitchFamily="2" charset="0"/>
                <a:ea typeface="Linik Sans ExtraLight" panose="02000503000000020004" pitchFamily="2" charset="0"/>
              </a:rPr>
              <a:t>Experience Getting Results</a:t>
            </a:r>
            <a:endParaRPr lang="en-US" sz="1800"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81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3" grpId="0"/>
      <p:bldP spid="5" grpId="0"/>
      <p:bldP spid="8" grpId="0"/>
      <p:bldP spid="15" grpId="0"/>
      <p:bldP spid="19" grpId="0"/>
      <p:bldP spid="21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5E2B4-A293-B7B4-47DC-8DA82305C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736EEA9-849F-ADC5-ADF2-58E0E5E02C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8000">
                <a:schemeClr val="accent4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Linik Sans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585683-9070-4D4E-593F-512A3BEA567C}"/>
              </a:ext>
            </a:extLst>
          </p:cNvPr>
          <p:cNvSpPr txBox="1"/>
          <p:nvPr/>
        </p:nvSpPr>
        <p:spPr>
          <a:xfrm>
            <a:off x="805230" y="692150"/>
            <a:ext cx="3945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Linik Sans ExtraLight" panose="02000503000000020004" pitchFamily="2" charset="0"/>
                <a:ea typeface="Linik Sans ExtraLight" panose="02000503000000020004" pitchFamily="2" charset="0"/>
              </a:rPr>
              <a:t>What You’ll Take Away</a:t>
            </a:r>
            <a:endParaRPr lang="en-US" sz="2400"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28A6C-6D24-1D25-ED0A-C4E618B259D4}"/>
              </a:ext>
            </a:extLst>
          </p:cNvPr>
          <p:cNvSpPr txBox="1"/>
          <p:nvPr/>
        </p:nvSpPr>
        <p:spPr>
          <a:xfrm>
            <a:off x="4255220" y="1467505"/>
            <a:ext cx="464113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2925" indent="-487363">
              <a:lnSpc>
                <a:spcPct val="250000"/>
              </a:lnSpc>
              <a:buFont typeface="System Font Regular"/>
              <a:buChar char="👉"/>
            </a:pPr>
            <a:r>
              <a:rPr lang="en-CA" sz="2400" dirty="0">
                <a:solidFill>
                  <a:srgbClr val="0B0B0A"/>
                </a:solidFill>
                <a:latin typeface="Linik Sans Light" panose="02000503000000020004" pitchFamily="2" charset="0"/>
                <a:ea typeface="Linik Sans Light" panose="02000503000000020004" pitchFamily="2" charset="0"/>
              </a:rPr>
              <a:t>Who We Are</a:t>
            </a:r>
          </a:p>
          <a:p>
            <a:pPr marL="542925" indent="-487363">
              <a:lnSpc>
                <a:spcPct val="250000"/>
              </a:lnSpc>
              <a:buFont typeface="System Font Regular"/>
              <a:buChar char="👉"/>
            </a:pPr>
            <a:r>
              <a:rPr lang="en-CA" sz="2400" dirty="0">
                <a:solidFill>
                  <a:srgbClr val="0B0B0A"/>
                </a:solidFill>
                <a:latin typeface="Linik Sans Light" panose="02000503000000020004" pitchFamily="2" charset="0"/>
                <a:ea typeface="Linik Sans Light" panose="02000503000000020004" pitchFamily="2" charset="0"/>
              </a:rPr>
              <a:t>Why </a:t>
            </a:r>
            <a:r>
              <a:rPr lang="en-CA" sz="2400" dirty="0" err="1">
                <a:solidFill>
                  <a:srgbClr val="0B0B0A"/>
                </a:solidFill>
                <a:latin typeface="Linik Sans Light" panose="02000503000000020004" pitchFamily="2" charset="0"/>
                <a:ea typeface="Linik Sans Light" panose="02000503000000020004" pitchFamily="2" charset="0"/>
              </a:rPr>
              <a:t>Goalytics</a:t>
            </a:r>
            <a:endParaRPr lang="en-CA" sz="2400" dirty="0">
              <a:solidFill>
                <a:srgbClr val="0B0B0A"/>
              </a:solidFill>
              <a:latin typeface="Linik Sans Light" panose="02000503000000020004" pitchFamily="2" charset="0"/>
              <a:ea typeface="Linik Sans Light" panose="02000503000000020004" pitchFamily="2" charset="0"/>
            </a:endParaRPr>
          </a:p>
          <a:p>
            <a:pPr marL="542925" indent="-487363">
              <a:lnSpc>
                <a:spcPct val="250000"/>
              </a:lnSpc>
              <a:buFont typeface="System Font Regular"/>
              <a:buChar char="👉"/>
            </a:pPr>
            <a:r>
              <a:rPr lang="en-CA" sz="2400" dirty="0">
                <a:solidFill>
                  <a:srgbClr val="0B0B0A"/>
                </a:solidFill>
                <a:latin typeface="Linik Sans Light" panose="02000503000000020004" pitchFamily="2" charset="0"/>
                <a:ea typeface="Linik Sans Light" panose="02000503000000020004" pitchFamily="2" charset="0"/>
              </a:rPr>
              <a:t>Our USP (POV)</a:t>
            </a:r>
          </a:p>
          <a:p>
            <a:pPr marL="542925" indent="-487363">
              <a:lnSpc>
                <a:spcPct val="250000"/>
              </a:lnSpc>
              <a:buFont typeface="System Font Regular"/>
              <a:buChar char="👉"/>
            </a:pPr>
            <a:r>
              <a:rPr lang="en-CA" sz="2400" dirty="0">
                <a:solidFill>
                  <a:srgbClr val="0B0B0A"/>
                </a:solidFill>
                <a:latin typeface="Linik Sans Light" panose="02000503000000020004" pitchFamily="2" charset="0"/>
                <a:ea typeface="Linik Sans Light" panose="02000503000000020004" pitchFamily="2" charset="0"/>
              </a:rPr>
              <a:t>How It Works (Demo)</a:t>
            </a:r>
          </a:p>
          <a:p>
            <a:pPr marL="542925" indent="-487363">
              <a:lnSpc>
                <a:spcPct val="250000"/>
              </a:lnSpc>
              <a:buFont typeface="System Font Regular"/>
              <a:buChar char="👉"/>
            </a:pPr>
            <a:r>
              <a:rPr lang="en-CA" sz="2400">
                <a:solidFill>
                  <a:srgbClr val="0B0B0A"/>
                </a:solidFill>
                <a:latin typeface="Linik Sans Light" panose="02000503000000020004" pitchFamily="2" charset="0"/>
                <a:ea typeface="Linik Sans Light" panose="02000503000000020004" pitchFamily="2" charset="0"/>
              </a:rPr>
              <a:t>Next Steps</a:t>
            </a:r>
            <a:endParaRPr lang="en-CA" sz="2400" dirty="0">
              <a:solidFill>
                <a:srgbClr val="0B0B0A"/>
              </a:solidFill>
              <a:latin typeface="Linik Sans Light" panose="02000503000000020004" pitchFamily="2" charset="0"/>
              <a:ea typeface="Linik Sans Light" panose="02000503000000020004" pitchFamily="2" charset="0"/>
            </a:endParaRPr>
          </a:p>
          <a:p>
            <a:pPr marL="542925" indent="-487363">
              <a:buFont typeface="System Font Regular"/>
              <a:buChar char="👉"/>
            </a:pPr>
            <a:endParaRPr lang="en-CA" sz="2400" dirty="0">
              <a:solidFill>
                <a:srgbClr val="0B0B0A"/>
              </a:solidFill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  <a:p>
            <a:pPr marL="542925" indent="-487363">
              <a:buFont typeface="System Font Regular"/>
              <a:buChar char="👉"/>
            </a:pPr>
            <a:endParaRPr lang="en-CA" sz="2400" dirty="0">
              <a:solidFill>
                <a:srgbClr val="0B0B0A"/>
              </a:solidFill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453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649D739-1E5C-A2C3-AE9C-35D4071CAEC7}"/>
              </a:ext>
            </a:extLst>
          </p:cNvPr>
          <p:cNvSpPr/>
          <p:nvPr/>
        </p:nvSpPr>
        <p:spPr>
          <a:xfrm>
            <a:off x="0" y="0"/>
            <a:ext cx="12354838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solidFill>
                <a:schemeClr val="bg1"/>
              </a:solidFill>
              <a:latin typeface="Linik Sans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7F2297-3CA3-BC56-4583-E9643C388D5C}"/>
              </a:ext>
            </a:extLst>
          </p:cNvPr>
          <p:cNvSpPr txBox="1"/>
          <p:nvPr/>
        </p:nvSpPr>
        <p:spPr>
          <a:xfrm>
            <a:off x="805230" y="692150"/>
            <a:ext cx="2901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Linik Sans ExtraLight" panose="02000503000000020004" pitchFamily="2" charset="0"/>
                <a:ea typeface="Linik Sans ExtraLight" panose="02000503000000020004" pitchFamily="2" charset="0"/>
              </a:rPr>
              <a:t>Why We’re Here</a:t>
            </a:r>
            <a:endParaRPr lang="en-US" sz="2400"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0175B1-8F10-ECDC-8D88-412A7B143095}"/>
              </a:ext>
            </a:extLst>
          </p:cNvPr>
          <p:cNvSpPr txBox="1"/>
          <p:nvPr/>
        </p:nvSpPr>
        <p:spPr>
          <a:xfrm>
            <a:off x="812753" y="2696075"/>
            <a:ext cx="323197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>
                <a:latin typeface="Aptos Light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Most OKRs are poorly organized.</a:t>
            </a:r>
            <a:r>
              <a:rPr lang="en-US" sz="1700" baseline="30000">
                <a:latin typeface="Aptos Light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AE3F9-41D8-D4B7-6A3B-C0F56EDC54A1}"/>
              </a:ext>
            </a:extLst>
          </p:cNvPr>
          <p:cNvSpPr txBox="1"/>
          <p:nvPr/>
        </p:nvSpPr>
        <p:spPr>
          <a:xfrm>
            <a:off x="839677" y="3711875"/>
            <a:ext cx="435796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>
                <a:latin typeface="Aptos Light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Execution lacks discipline (setting and forgetting).</a:t>
            </a:r>
            <a:r>
              <a:rPr lang="en-US" sz="1700" baseline="30000">
                <a:latin typeface="Aptos Light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endParaRPr lang="en-US" sz="1700">
              <a:latin typeface="Aptos Light" panose="020B00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2A43A8-C144-893F-760F-2BAA25234B9F}"/>
              </a:ext>
            </a:extLst>
          </p:cNvPr>
          <p:cNvSpPr txBox="1"/>
          <p:nvPr/>
        </p:nvSpPr>
        <p:spPr>
          <a:xfrm>
            <a:off x="854954" y="5004674"/>
            <a:ext cx="320472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>
                <a:latin typeface="Aptos Light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Tasks are conflated with results.</a:t>
            </a:r>
            <a:r>
              <a:rPr lang="en-US" sz="1700" baseline="30000">
                <a:latin typeface="Aptos Light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3</a:t>
            </a:r>
            <a:endParaRPr lang="en-US" sz="1700">
              <a:latin typeface="Aptos Light" panose="020B0004020202020204" pitchFamily="34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96A25F-2C51-F932-245C-01CD7A99D1CE}"/>
              </a:ext>
            </a:extLst>
          </p:cNvPr>
          <p:cNvSpPr txBox="1"/>
          <p:nvPr/>
        </p:nvSpPr>
        <p:spPr>
          <a:xfrm>
            <a:off x="826818" y="1896532"/>
            <a:ext cx="1952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Linik Sans" panose="02000503000000020004" pitchFamily="2" charset="0"/>
                <a:ea typeface="Linik Sans" panose="02000503000000020004" pitchFamily="2" charset="0"/>
              </a:rPr>
              <a:t>The Challenge</a:t>
            </a:r>
            <a:endParaRPr lang="en-US" sz="1800">
              <a:latin typeface="Linik Sans" panose="02000503000000020004" pitchFamily="2" charset="0"/>
              <a:ea typeface="Linik Sans" panose="02000503000000020004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31915A-7234-D5F9-94EA-6D4D2BC5A8A0}"/>
              </a:ext>
            </a:extLst>
          </p:cNvPr>
          <p:cNvSpPr txBox="1"/>
          <p:nvPr/>
        </p:nvSpPr>
        <p:spPr>
          <a:xfrm>
            <a:off x="7965343" y="1908255"/>
            <a:ext cx="16930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Linik Sans" panose="02000503000000020004" pitchFamily="2" charset="0"/>
                <a:ea typeface="Linik Sans" panose="02000503000000020004" pitchFamily="2" charset="0"/>
              </a:rPr>
              <a:t>Our Solution</a:t>
            </a:r>
            <a:endParaRPr lang="en-US" sz="1800">
              <a:latin typeface="Linik Sans" panose="02000503000000020004" pitchFamily="2" charset="0"/>
              <a:ea typeface="Linik Sans" panose="02000503000000020004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8D892A-E357-C875-C1E9-3F79066A61A2}"/>
              </a:ext>
            </a:extLst>
          </p:cNvPr>
          <p:cNvSpPr txBox="1"/>
          <p:nvPr/>
        </p:nvSpPr>
        <p:spPr>
          <a:xfrm>
            <a:off x="7937211" y="2726655"/>
            <a:ext cx="339548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>
                <a:latin typeface="Aptos Light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Rigorous, AI-supported structuring.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A83616-2C2F-135B-D19C-77845E298B61}"/>
              </a:ext>
            </a:extLst>
          </p:cNvPr>
          <p:cNvSpPr txBox="1"/>
          <p:nvPr/>
        </p:nvSpPr>
        <p:spPr>
          <a:xfrm>
            <a:off x="7963002" y="3874995"/>
            <a:ext cx="306686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>
                <a:latin typeface="Aptos Light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Clear, engaging business flows.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183DC0-ABF8-7023-F233-1ED329CF1328}"/>
              </a:ext>
            </a:extLst>
          </p:cNvPr>
          <p:cNvSpPr txBox="1"/>
          <p:nvPr/>
        </p:nvSpPr>
        <p:spPr>
          <a:xfrm>
            <a:off x="7937316" y="5023336"/>
            <a:ext cx="298190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>
                <a:latin typeface="Aptos Light" panose="020B0004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Meaningful data and analytics.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8E9085-01F7-80CB-82F0-EF952117B28C}"/>
              </a:ext>
            </a:extLst>
          </p:cNvPr>
          <p:cNvSpPr txBox="1"/>
          <p:nvPr/>
        </p:nvSpPr>
        <p:spPr>
          <a:xfrm>
            <a:off x="4996436" y="3826331"/>
            <a:ext cx="118563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CA" sz="2200">
                <a:solidFill>
                  <a:srgbClr val="0B0B0A"/>
                </a:solidFill>
                <a:latin typeface="Linik Sans" panose="02000503000000020004" pitchFamily="2" charset="0"/>
                <a:ea typeface="Linik Sans" panose="02000503000000020004" pitchFamily="2" charset="0"/>
              </a:rPr>
              <a:t>Roles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75B14E-2B21-6B4A-D8C3-D26E6217FEE1}"/>
              </a:ext>
            </a:extLst>
          </p:cNvPr>
          <p:cNvSpPr txBox="1"/>
          <p:nvPr/>
        </p:nvSpPr>
        <p:spPr>
          <a:xfrm>
            <a:off x="818695" y="1187450"/>
            <a:ext cx="4879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Linik Sans ExtraLight" panose="02000503000000020004" pitchFamily="2" charset="0"/>
                <a:ea typeface="Linik Sans ExtraLight" panose="02000503000000020004" pitchFamily="2" charset="0"/>
              </a:rPr>
              <a:t>OKRs are Powerful, But Hard to Manage</a:t>
            </a:r>
            <a:endParaRPr lang="en-US" sz="1800"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97184F4-2845-0B75-E15A-55A7E5E768CD}"/>
              </a:ext>
            </a:extLst>
          </p:cNvPr>
          <p:cNvGrpSpPr/>
          <p:nvPr/>
        </p:nvGrpSpPr>
        <p:grpSpPr>
          <a:xfrm>
            <a:off x="1027134" y="5665096"/>
            <a:ext cx="3620025" cy="900804"/>
            <a:chOff x="3520122" y="4874329"/>
            <a:chExt cx="975305" cy="696639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C3AFDEB6-1A42-626C-CD2A-7781841E97A6}"/>
                </a:ext>
              </a:extLst>
            </p:cNvPr>
            <p:cNvSpPr/>
            <p:nvPr/>
          </p:nvSpPr>
          <p:spPr>
            <a:xfrm>
              <a:off x="3520122" y="4874329"/>
              <a:ext cx="971930" cy="686925"/>
            </a:xfrm>
            <a:prstGeom prst="roundRect">
              <a:avLst/>
            </a:prstGeom>
            <a:solidFill>
              <a:schemeClr val="bg1">
                <a:alpha val="33364"/>
              </a:schemeClr>
            </a:solidFill>
            <a:ln w="3175"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3F29D86-66FF-8F00-0BA7-C2FEE9EA59DB}"/>
                </a:ext>
              </a:extLst>
            </p:cNvPr>
            <p:cNvSpPr/>
            <p:nvPr/>
          </p:nvSpPr>
          <p:spPr>
            <a:xfrm>
              <a:off x="3521642" y="4891895"/>
              <a:ext cx="973785" cy="679073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</a:ln>
            <a:effectLst/>
            <a:scene3d>
              <a:camera prst="orthographicFront"/>
              <a:lightRig rig="threePt" dir="t"/>
            </a:scene3d>
            <a:sp3d prstMaterial="clear">
              <a:bevelT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r>
                <a:rPr lang="en-US" sz="1600">
                  <a:latin typeface="Aptos Light" panose="020B0004020202020204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“I spend half my time fixing what should be saving time.” CPG Manager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F7FD6AF-25DD-B79A-85A7-C329086D5E89}"/>
              </a:ext>
            </a:extLst>
          </p:cNvPr>
          <p:cNvGrpSpPr/>
          <p:nvPr/>
        </p:nvGrpSpPr>
        <p:grpSpPr>
          <a:xfrm>
            <a:off x="7734822" y="5615689"/>
            <a:ext cx="3620025" cy="922694"/>
            <a:chOff x="3520122" y="4874329"/>
            <a:chExt cx="975305" cy="714205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104358CE-5821-A4EA-703A-CBC2A1D7AF77}"/>
                </a:ext>
              </a:extLst>
            </p:cNvPr>
            <p:cNvSpPr/>
            <p:nvPr/>
          </p:nvSpPr>
          <p:spPr>
            <a:xfrm>
              <a:off x="3520122" y="4874329"/>
              <a:ext cx="971930" cy="686925"/>
            </a:xfrm>
            <a:prstGeom prst="roundRect">
              <a:avLst/>
            </a:prstGeom>
            <a:solidFill>
              <a:schemeClr val="bg1">
                <a:alpha val="33364"/>
              </a:schemeClr>
            </a:solidFill>
            <a:ln w="3175"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020BEA2C-F4D3-C689-DE52-25AC3AB24D32}"/>
                </a:ext>
              </a:extLst>
            </p:cNvPr>
            <p:cNvSpPr/>
            <p:nvPr/>
          </p:nvSpPr>
          <p:spPr>
            <a:xfrm>
              <a:off x="3521642" y="4891895"/>
              <a:ext cx="973785" cy="69663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</a:ln>
            <a:effectLst/>
            <a:scene3d>
              <a:camera prst="orthographicFront"/>
              <a:lightRig rig="threePt" dir="t"/>
            </a:scene3d>
            <a:sp3d prstMaterial="clear">
              <a:bevelT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n-US" sz="1600">
                  <a:latin typeface="Aptos Light" panose="020B0004020202020204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OKR discipline </a:t>
              </a:r>
              <a:r>
                <a:rPr lang="en-US" sz="1600">
                  <a:latin typeface="Aptos Light" panose="020B0004020202020204" pitchFamily="34" charset="0"/>
                  <a:ea typeface="Helvetica Neue" panose="02000503000000020004" pitchFamily="2" charset="0"/>
                  <a:cs typeface="Helvetica Neue" panose="02000503000000020004" pitchFamily="2" charset="0"/>
                  <a:sym typeface="Wingdings" pitchFamily="2" charset="2"/>
                </a:rPr>
                <a:t></a:t>
              </a:r>
              <a:r>
                <a:rPr lang="en-US" sz="1600">
                  <a:latin typeface="Aptos Light" panose="020B0004020202020204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25% higher growth: HBR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415EEC3-F4C9-47B5-DB0F-2F629598F39D}"/>
              </a:ext>
            </a:extLst>
          </p:cNvPr>
          <p:cNvSpPr txBox="1"/>
          <p:nvPr/>
        </p:nvSpPr>
        <p:spPr>
          <a:xfrm>
            <a:off x="5060902" y="2673806"/>
            <a:ext cx="10710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CA" sz="2200">
                <a:solidFill>
                  <a:srgbClr val="0B0B0A"/>
                </a:solidFill>
                <a:latin typeface="Linik Sans" panose="02000503000000020004" pitchFamily="2" charset="0"/>
                <a:ea typeface="Linik Sans" panose="02000503000000020004" pitchFamily="2" charset="0"/>
              </a:rPr>
              <a:t>Goals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FBE50D-28EC-2A75-7508-6A69B48B9F53}"/>
              </a:ext>
            </a:extLst>
          </p:cNvPr>
          <p:cNvSpPr txBox="1"/>
          <p:nvPr/>
        </p:nvSpPr>
        <p:spPr>
          <a:xfrm>
            <a:off x="5043581" y="4977269"/>
            <a:ext cx="13315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CA" sz="2200">
                <a:solidFill>
                  <a:srgbClr val="0B0B0A"/>
                </a:solidFill>
                <a:latin typeface="Linik Sans" panose="02000503000000020004" pitchFamily="2" charset="0"/>
                <a:ea typeface="Linik Sans" panose="02000503000000020004" pitchFamily="2" charset="0"/>
              </a:rPr>
              <a:t>Results</a:t>
            </a:r>
          </a:p>
        </p:txBody>
      </p:sp>
      <p:pic>
        <p:nvPicPr>
          <p:cNvPr id="19" name="Graphic 18" descr="Bullseye outline">
            <a:extLst>
              <a:ext uri="{FF2B5EF4-FFF2-40B4-BE49-F238E27FC236}">
                <a16:creationId xmlns:a16="http://schemas.microsoft.com/office/drawing/2014/main" id="{BEBBB569-2863-4AB1-50D0-2CB42C77C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67432" y="2569217"/>
            <a:ext cx="654285" cy="640066"/>
          </a:xfrm>
          <a:prstGeom prst="rect">
            <a:avLst/>
          </a:prstGeom>
        </p:spPr>
      </p:pic>
      <p:pic>
        <p:nvPicPr>
          <p:cNvPr id="21" name="Graphic 20" descr="Users outline">
            <a:extLst>
              <a:ext uri="{FF2B5EF4-FFF2-40B4-BE49-F238E27FC236}">
                <a16:creationId xmlns:a16="http://schemas.microsoft.com/office/drawing/2014/main" id="{1D627267-392A-2A93-14EA-0477D7429C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0877" y="3720015"/>
            <a:ext cx="654285" cy="640066"/>
          </a:xfrm>
          <a:prstGeom prst="rect">
            <a:avLst/>
          </a:prstGeom>
        </p:spPr>
      </p:pic>
      <p:pic>
        <p:nvPicPr>
          <p:cNvPr id="23" name="Graphic 22" descr="Upward trend outline">
            <a:extLst>
              <a:ext uri="{FF2B5EF4-FFF2-40B4-BE49-F238E27FC236}">
                <a16:creationId xmlns:a16="http://schemas.microsoft.com/office/drawing/2014/main" id="{5F647289-42C7-C10B-925A-F07870F061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5082" y="4884555"/>
            <a:ext cx="654285" cy="64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255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" grpId="0"/>
      <p:bldP spid="12" grpId="0"/>
      <p:bldP spid="13" grpId="0"/>
      <p:bldP spid="14" grpId="0"/>
      <p:bldP spid="15" grpId="0"/>
      <p:bldP spid="16" grpId="0"/>
      <p:bldP spid="17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69FEBA-F039-D00C-87D8-71AD5CEA11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8000">
                <a:schemeClr val="accent4">
                  <a:lumMod val="60000"/>
                  <a:lumOff val="4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Linik Sans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81981B-75FB-53D7-A13F-DDF4988DE05E}"/>
              </a:ext>
            </a:extLst>
          </p:cNvPr>
          <p:cNvSpPr txBox="1">
            <a:spLocks/>
          </p:cNvSpPr>
          <p:nvPr/>
        </p:nvSpPr>
        <p:spPr>
          <a:xfrm>
            <a:off x="838200" y="70455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>
                <a:solidFill>
                  <a:srgbClr val="000000"/>
                </a:solidFill>
                <a:latin typeface="Linik Sans" panose="02000503000000020004" pitchFamily="2" charset="0"/>
                <a:ea typeface="Linik Sans" panose="02000503000000020004" pitchFamily="2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>
                <a:solidFill>
                  <a:schemeClr val="tx1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Potential: Even </a:t>
            </a:r>
            <a:r>
              <a:rPr lang="en-US" sz="3200" u="sng">
                <a:solidFill>
                  <a:schemeClr val="tx1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More</a:t>
            </a:r>
            <a:r>
              <a:rPr lang="en-US" sz="3200">
                <a:solidFill>
                  <a:schemeClr val="tx1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 Meaningful Results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6BEEAA-92C4-6F62-BE60-6E92DB34B245}"/>
              </a:ext>
            </a:extLst>
          </p:cNvPr>
          <p:cNvGrpSpPr/>
          <p:nvPr/>
        </p:nvGrpSpPr>
        <p:grpSpPr>
          <a:xfrm>
            <a:off x="7355297" y="1889030"/>
            <a:ext cx="4024665" cy="1717393"/>
            <a:chOff x="7355297" y="1711607"/>
            <a:chExt cx="4024665" cy="171739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FC546F4-0FEE-0116-DFE1-D08E94046339}"/>
                </a:ext>
              </a:extLst>
            </p:cNvPr>
            <p:cNvSpPr txBox="1"/>
            <p:nvPr/>
          </p:nvSpPr>
          <p:spPr>
            <a:xfrm>
              <a:off x="7355297" y="1711607"/>
              <a:ext cx="1937069" cy="17173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60" spc="-18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30</a:t>
              </a:r>
              <a:endParaRPr lang="en-US" sz="4800" spc="-180">
                <a:solidFill>
                  <a:schemeClr val="tx2">
                    <a:lumMod val="50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 Medium" panose="02000503000000020004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F309903-C5CF-C454-A4EE-B0488CB0E2D0}"/>
                </a:ext>
              </a:extLst>
            </p:cNvPr>
            <p:cNvSpPr txBox="1"/>
            <p:nvPr/>
          </p:nvSpPr>
          <p:spPr>
            <a:xfrm>
              <a:off x="9040982" y="1958072"/>
              <a:ext cx="60625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360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%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7EEC158-BFB6-9062-086A-D6F6D248B1E4}"/>
                </a:ext>
              </a:extLst>
            </p:cNvPr>
            <p:cNvSpPr txBox="1"/>
            <p:nvPr/>
          </p:nvSpPr>
          <p:spPr>
            <a:xfrm>
              <a:off x="9543355" y="1977182"/>
              <a:ext cx="1836607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20" dirty="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Reduction in management overhead</a:t>
              </a:r>
              <a:r>
                <a:rPr lang="en-US" sz="1920" baseline="30000" dirty="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6</a:t>
              </a:r>
              <a:r>
                <a:rPr lang="en-US" sz="1920" dirty="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  </a:t>
              </a:r>
              <a:endParaRPr lang="en-US" sz="1920" baseline="30000" dirty="0">
                <a:solidFill>
                  <a:schemeClr val="tx2">
                    <a:lumMod val="50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 Medium" panose="02000503000000020004" pitchFamily="2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B6E03A7-718C-E31B-224A-A4B65BD917F2}"/>
              </a:ext>
            </a:extLst>
          </p:cNvPr>
          <p:cNvGrpSpPr/>
          <p:nvPr/>
        </p:nvGrpSpPr>
        <p:grpSpPr>
          <a:xfrm>
            <a:off x="831274" y="1889030"/>
            <a:ext cx="4047355" cy="1717393"/>
            <a:chOff x="831274" y="1711607"/>
            <a:chExt cx="4047355" cy="171739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CA41F2C-A60B-C12F-54D9-931DFDE5B178}"/>
                </a:ext>
              </a:extLst>
            </p:cNvPr>
            <p:cNvSpPr txBox="1"/>
            <p:nvPr/>
          </p:nvSpPr>
          <p:spPr>
            <a:xfrm>
              <a:off x="831274" y="1711607"/>
              <a:ext cx="2006931" cy="1717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0560" spc="-18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40</a:t>
              </a:r>
              <a:endParaRPr lang="en-US" sz="4800" spc="-180">
                <a:solidFill>
                  <a:schemeClr val="tx2">
                    <a:lumMod val="50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 Medium" panose="02000503000000020004" pitchFamily="2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DC8B049-73C0-B786-7D89-6BA627B3D208}"/>
                </a:ext>
              </a:extLst>
            </p:cNvPr>
            <p:cNvSpPr txBox="1"/>
            <p:nvPr/>
          </p:nvSpPr>
          <p:spPr>
            <a:xfrm>
              <a:off x="2608657" y="1974594"/>
              <a:ext cx="6024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360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%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E14214D-9BA2-7A15-CEBD-A040EF37AA2A}"/>
                </a:ext>
              </a:extLst>
            </p:cNvPr>
            <p:cNvSpPr txBox="1"/>
            <p:nvPr/>
          </p:nvSpPr>
          <p:spPr>
            <a:xfrm>
              <a:off x="3147521" y="1978632"/>
              <a:ext cx="1731108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92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Reduction in manual processing </a:t>
              </a:r>
              <a:r>
                <a:rPr lang="en-US" sz="1920" baseline="3000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4</a:t>
              </a:r>
              <a:r>
                <a:rPr lang="en-US" sz="192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 </a:t>
              </a:r>
              <a:endParaRPr lang="en-US" sz="1920" baseline="30000">
                <a:solidFill>
                  <a:schemeClr val="tx2">
                    <a:lumMod val="50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 Medium" panose="02000503000000020004" pitchFamily="2" charset="0"/>
              </a:endParaRP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47942E-3DB3-99C1-CC7B-DEFD5264FAAD}"/>
              </a:ext>
            </a:extLst>
          </p:cNvPr>
          <p:cNvCxnSpPr>
            <a:cxnSpLocks/>
          </p:cNvCxnSpPr>
          <p:nvPr/>
        </p:nvCxnSpPr>
        <p:spPr>
          <a:xfrm>
            <a:off x="1813909" y="3944699"/>
            <a:ext cx="30407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68014E-C25E-4750-627B-BEE9D607B285}"/>
              </a:ext>
            </a:extLst>
          </p:cNvPr>
          <p:cNvGrpSpPr/>
          <p:nvPr/>
        </p:nvGrpSpPr>
        <p:grpSpPr>
          <a:xfrm>
            <a:off x="868870" y="4440541"/>
            <a:ext cx="4363361" cy="1717393"/>
            <a:chOff x="868870" y="4263118"/>
            <a:chExt cx="4363361" cy="171739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6A614B8-3356-E96B-0528-41107DE1EFD9}"/>
                </a:ext>
              </a:extLst>
            </p:cNvPr>
            <p:cNvSpPr txBox="1"/>
            <p:nvPr/>
          </p:nvSpPr>
          <p:spPr>
            <a:xfrm>
              <a:off x="868870" y="4263118"/>
              <a:ext cx="1937069" cy="17173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60" spc="-18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25</a:t>
              </a:r>
              <a:endParaRPr lang="en-US" sz="4800" spc="-180">
                <a:solidFill>
                  <a:schemeClr val="tx2">
                    <a:lumMod val="50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 Medium" panose="02000503000000020004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3162C6B-F06A-19A1-48A7-53BFF27939F3}"/>
                </a:ext>
              </a:extLst>
            </p:cNvPr>
            <p:cNvSpPr txBox="1"/>
            <p:nvPr/>
          </p:nvSpPr>
          <p:spPr>
            <a:xfrm>
              <a:off x="2669187" y="4507952"/>
              <a:ext cx="6024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360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%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07CF6FD-4363-5BFA-BE8A-198C8CDDFE6F}"/>
                </a:ext>
              </a:extLst>
            </p:cNvPr>
            <p:cNvSpPr txBox="1"/>
            <p:nvPr/>
          </p:nvSpPr>
          <p:spPr>
            <a:xfrm>
              <a:off x="3126275" y="4525844"/>
              <a:ext cx="2105956" cy="978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92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Better goal achievement rates</a:t>
              </a:r>
              <a:r>
                <a:rPr lang="en-US" sz="1920" baseline="3000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5</a:t>
              </a:r>
              <a:r>
                <a:rPr lang="en-US" sz="192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 </a:t>
              </a:r>
              <a:endParaRPr lang="en-US" sz="1920" baseline="30000">
                <a:solidFill>
                  <a:schemeClr val="tx2">
                    <a:lumMod val="50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 Medium" panose="02000503000000020004" pitchFamily="2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384BDA8-03C9-EEFF-47CC-1D923A86135F}"/>
              </a:ext>
            </a:extLst>
          </p:cNvPr>
          <p:cNvGrpSpPr/>
          <p:nvPr/>
        </p:nvGrpSpPr>
        <p:grpSpPr>
          <a:xfrm>
            <a:off x="7461644" y="4439776"/>
            <a:ext cx="4325149" cy="1717393"/>
            <a:chOff x="7461644" y="4262353"/>
            <a:chExt cx="4325149" cy="171739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97590E0-7586-AD01-E04C-6AA381669926}"/>
                </a:ext>
              </a:extLst>
            </p:cNvPr>
            <p:cNvSpPr txBox="1"/>
            <p:nvPr/>
          </p:nvSpPr>
          <p:spPr>
            <a:xfrm>
              <a:off x="7461644" y="4262353"/>
              <a:ext cx="1937069" cy="17173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60" spc="-18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20</a:t>
              </a:r>
              <a:endParaRPr lang="en-US" sz="4800" spc="-180">
                <a:solidFill>
                  <a:schemeClr val="tx2">
                    <a:lumMod val="50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 Medium" panose="02000503000000020004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3EDF03-CFD1-B5C0-F1F4-C10708129B26}"/>
                </a:ext>
              </a:extLst>
            </p:cNvPr>
            <p:cNvSpPr txBox="1"/>
            <p:nvPr/>
          </p:nvSpPr>
          <p:spPr>
            <a:xfrm>
              <a:off x="9178837" y="4540438"/>
              <a:ext cx="6024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360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%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75A6369-5B09-0EAD-6972-EB0B790DF3C7}"/>
                </a:ext>
              </a:extLst>
            </p:cNvPr>
            <p:cNvSpPr txBox="1"/>
            <p:nvPr/>
          </p:nvSpPr>
          <p:spPr>
            <a:xfrm>
              <a:off x="9665456" y="4515025"/>
              <a:ext cx="2121337" cy="683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2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Increase in team productivity</a:t>
              </a:r>
              <a:r>
                <a:rPr lang="en-US" sz="1920" baseline="30000">
                  <a:solidFill>
                    <a:schemeClr val="tx2">
                      <a:lumMod val="50000"/>
                    </a:schemeClr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7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A253B25-8F74-6A57-BE7E-2E71DA0A91DC}"/>
              </a:ext>
            </a:extLst>
          </p:cNvPr>
          <p:cNvCxnSpPr>
            <a:cxnSpLocks/>
          </p:cNvCxnSpPr>
          <p:nvPr/>
        </p:nvCxnSpPr>
        <p:spPr>
          <a:xfrm flipV="1">
            <a:off x="6044886" y="5281438"/>
            <a:ext cx="0" cy="7968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25B46BE-1F19-8604-DF97-A2ABCC343D80}"/>
              </a:ext>
            </a:extLst>
          </p:cNvPr>
          <p:cNvGrpSpPr/>
          <p:nvPr/>
        </p:nvGrpSpPr>
        <p:grpSpPr>
          <a:xfrm>
            <a:off x="4649013" y="2689438"/>
            <a:ext cx="2649825" cy="2592000"/>
            <a:chOff x="4649013" y="2512015"/>
            <a:chExt cx="2649825" cy="25920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90735D1-7BD8-2DCB-5361-57291DC92CD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49013" y="2512015"/>
              <a:ext cx="2592000" cy="2592000"/>
            </a:xfrm>
            <a:prstGeom prst="ellipse">
              <a:avLst/>
            </a:prstGeom>
            <a:solidFill>
              <a:srgbClr val="365469">
                <a:alpha val="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80">
                <a:solidFill>
                  <a:schemeClr val="tx1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1718369-CCFF-DB4D-C194-20DFE8B1AEB1}"/>
                </a:ext>
              </a:extLst>
            </p:cNvPr>
            <p:cNvSpPr txBox="1"/>
            <p:nvPr/>
          </p:nvSpPr>
          <p:spPr>
            <a:xfrm>
              <a:off x="4912115" y="2598732"/>
              <a:ext cx="2100575" cy="18651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1520" spc="-180">
                  <a:solidFill>
                    <a:schemeClr val="tx1"/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25</a:t>
              </a:r>
              <a:endParaRPr lang="en-US" sz="5280" spc="-180">
                <a:solidFill>
                  <a:schemeClr val="tx1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 Medium" panose="02000503000000020004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498FDDA-6187-0C25-78B8-76611D56D681}"/>
                </a:ext>
              </a:extLst>
            </p:cNvPr>
            <p:cNvSpPr txBox="1"/>
            <p:nvPr/>
          </p:nvSpPr>
          <p:spPr>
            <a:xfrm>
              <a:off x="6696410" y="2895229"/>
              <a:ext cx="6024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3600">
                  <a:solidFill>
                    <a:schemeClr val="tx1"/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%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F970C6C-E74B-F3FA-0B56-4597E355BE84}"/>
                </a:ext>
              </a:extLst>
            </p:cNvPr>
            <p:cNvSpPr txBox="1"/>
            <p:nvPr/>
          </p:nvSpPr>
          <p:spPr>
            <a:xfrm>
              <a:off x="5113717" y="4178153"/>
              <a:ext cx="2051855" cy="387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20">
                  <a:solidFill>
                    <a:schemeClr val="tx1"/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Higher growth</a:t>
              </a:r>
              <a:r>
                <a:rPr lang="en-US" sz="1920" baseline="30000">
                  <a:solidFill>
                    <a:schemeClr val="tx1"/>
                  </a:solidFill>
                  <a:latin typeface="Linik Sans ExtraLight" panose="02000503000000020004" pitchFamily="2" charset="0"/>
                  <a:ea typeface="Linik Sans ExtraLight" panose="02000503000000020004" pitchFamily="2" charset="0"/>
                  <a:cs typeface="Helvetica Neue Medium" panose="02000503000000020004" pitchFamily="2" charset="0"/>
                </a:rPr>
                <a:t>2</a:t>
              </a:r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4419CE2-E07B-7CFA-49AC-C9B7E8290F4C}"/>
              </a:ext>
            </a:extLst>
          </p:cNvPr>
          <p:cNvCxnSpPr>
            <a:cxnSpLocks/>
          </p:cNvCxnSpPr>
          <p:nvPr/>
        </p:nvCxnSpPr>
        <p:spPr>
          <a:xfrm>
            <a:off x="7469335" y="3921912"/>
            <a:ext cx="30407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AE9C22E-9413-6006-EF60-1CA5F5AC52CE}"/>
              </a:ext>
            </a:extLst>
          </p:cNvPr>
          <p:cNvCxnSpPr>
            <a:cxnSpLocks/>
          </p:cNvCxnSpPr>
          <p:nvPr/>
        </p:nvCxnSpPr>
        <p:spPr>
          <a:xfrm flipV="1">
            <a:off x="6048896" y="1975744"/>
            <a:ext cx="0" cy="7968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438E19E-FCF8-245B-39EA-7079ADCF1126}"/>
              </a:ext>
            </a:extLst>
          </p:cNvPr>
          <p:cNvSpPr txBox="1"/>
          <p:nvPr/>
        </p:nvSpPr>
        <p:spPr>
          <a:xfrm>
            <a:off x="849375" y="1187450"/>
            <a:ext cx="32688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Linik Sans ExtraLight" panose="02000503000000020004" pitchFamily="2" charset="0"/>
                <a:ea typeface="Linik Sans ExtraLight" panose="02000503000000020004" pitchFamily="2" charset="0"/>
              </a:rPr>
              <a:t>What the Research Shows</a:t>
            </a:r>
            <a:endParaRPr lang="en-US" sz="1800"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E6A6023E-E547-BB60-8C45-AC1D945FB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6616" y="321276"/>
            <a:ext cx="1856563" cy="3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38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2FA7B-2089-15F2-CC8F-0EFCD3E38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5369D8B-3F01-AA17-4014-C34C9D371A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8000">
                <a:schemeClr val="accent6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Linik Sans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4A286857-BFD8-CF81-B7DB-8ED5C127DA08}"/>
              </a:ext>
            </a:extLst>
          </p:cNvPr>
          <p:cNvSpPr/>
          <p:nvPr/>
        </p:nvSpPr>
        <p:spPr>
          <a:xfrm>
            <a:off x="4399004" y="1749287"/>
            <a:ext cx="3561971" cy="4770783"/>
          </a:xfrm>
          <a:prstGeom prst="roundRect">
            <a:avLst>
              <a:gd name="adj" fmla="val 12564"/>
            </a:avLst>
          </a:prstGeom>
          <a:solidFill>
            <a:schemeClr val="bg1"/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B17F425-F2B7-5DA8-EDBB-A4CA43ECF7E8}"/>
              </a:ext>
            </a:extLst>
          </p:cNvPr>
          <p:cNvSpPr txBox="1">
            <a:spLocks/>
          </p:cNvSpPr>
          <p:nvPr/>
        </p:nvSpPr>
        <p:spPr>
          <a:xfrm>
            <a:off x="814450" y="652394"/>
            <a:ext cx="10515600" cy="594515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Linik Sans Light" panose="02000503000000020004" pitchFamily="2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>
                <a:solidFill>
                  <a:schemeClr val="tx1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How Accountability Drives Advantage </a:t>
            </a:r>
          </a:p>
        </p:txBody>
      </p:sp>
      <p:pic>
        <p:nvPicPr>
          <p:cNvPr id="29" name="Picture 28" descr="A green and white logo with arrows&#10;&#10;AI-generated content may be incorrect.">
            <a:extLst>
              <a:ext uri="{FF2B5EF4-FFF2-40B4-BE49-F238E27FC236}">
                <a16:creationId xmlns:a16="http://schemas.microsoft.com/office/drawing/2014/main" id="{F1C7AAE3-BA2E-8F54-054A-3191130C6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285" y="5093400"/>
            <a:ext cx="947108" cy="530378"/>
          </a:xfrm>
          <a:prstGeom prst="rect">
            <a:avLst/>
          </a:prstGeom>
        </p:spPr>
      </p:pic>
      <p:pic>
        <p:nvPicPr>
          <p:cNvPr id="31" name="Picture 30" descr="A black and white logo&#10;&#10;AI-generated content may be incorrect.">
            <a:extLst>
              <a:ext uri="{FF2B5EF4-FFF2-40B4-BE49-F238E27FC236}">
                <a16:creationId xmlns:a16="http://schemas.microsoft.com/office/drawing/2014/main" id="{13E86A3D-405A-2960-DDF9-E5FD8E961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8442" y="4483528"/>
            <a:ext cx="954681" cy="530378"/>
          </a:xfrm>
          <a:prstGeom prst="rect">
            <a:avLst/>
          </a:prstGeom>
        </p:spPr>
      </p:pic>
      <p:pic>
        <p:nvPicPr>
          <p:cNvPr id="33" name="Picture 32" descr="A logo with colorful dots and letters&#10;&#10;AI-generated content may be incorrect.">
            <a:extLst>
              <a:ext uri="{FF2B5EF4-FFF2-40B4-BE49-F238E27FC236}">
                <a16:creationId xmlns:a16="http://schemas.microsoft.com/office/drawing/2014/main" id="{F9D86C94-6163-0DFF-D9E6-F915F57B6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0323" y="3787033"/>
            <a:ext cx="708084" cy="530378"/>
          </a:xfrm>
          <a:prstGeom prst="rect">
            <a:avLst/>
          </a:prstGeom>
        </p:spPr>
      </p:pic>
      <p:pic>
        <p:nvPicPr>
          <p:cNvPr id="36" name="Picture 35" descr="A logo with pink and orange circles&#10;&#10;AI-generated content may be incorrect.">
            <a:extLst>
              <a:ext uri="{FF2B5EF4-FFF2-40B4-BE49-F238E27FC236}">
                <a16:creationId xmlns:a16="http://schemas.microsoft.com/office/drawing/2014/main" id="{2DFC0DCC-26D1-902E-CC6F-822D645E1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5170" y="2605348"/>
            <a:ext cx="767531" cy="530378"/>
          </a:xfrm>
          <a:prstGeom prst="rect">
            <a:avLst/>
          </a:prstGeom>
        </p:spPr>
      </p:pic>
      <p:pic>
        <p:nvPicPr>
          <p:cNvPr id="38" name="Picture 37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EC8E03DB-9167-9992-D46B-A1C9B26D54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0857" y="3132366"/>
            <a:ext cx="618960" cy="61896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25221D2-1C69-7C3B-B90A-B6411623B0DC}"/>
              </a:ext>
            </a:extLst>
          </p:cNvPr>
          <p:cNvSpPr txBox="1"/>
          <p:nvPr/>
        </p:nvSpPr>
        <p:spPr>
          <a:xfrm>
            <a:off x="1635466" y="1886411"/>
            <a:ext cx="1830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US" sz="1800">
                <a:solidFill>
                  <a:schemeClr val="tx1"/>
                </a:solidFill>
                <a:latin typeface="Linik Sans" panose="02000503000000020004" pitchFamily="2" charset="0"/>
                <a:ea typeface="Linik Sans" panose="02000503000000020004" pitchFamily="2" charset="0"/>
                <a:cs typeface="Helvetica Neue Medium" panose="02000503000000020004" pitchFamily="2" charset="0"/>
              </a:rPr>
              <a:t>Goals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A1DAB8-7F26-1C86-89BF-4E23184A684A}"/>
              </a:ext>
            </a:extLst>
          </p:cNvPr>
          <p:cNvSpPr txBox="1"/>
          <p:nvPr/>
        </p:nvSpPr>
        <p:spPr>
          <a:xfrm>
            <a:off x="5368014" y="1902740"/>
            <a:ext cx="1523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US" sz="1800">
                <a:solidFill>
                  <a:schemeClr val="tx1"/>
                </a:solidFill>
                <a:latin typeface="Linik Sans" panose="02000503000000020004" pitchFamily="2" charset="0"/>
                <a:ea typeface="Linik Sans" panose="02000503000000020004" pitchFamily="2" charset="0"/>
                <a:cs typeface="Helvetica Neue Medium" panose="02000503000000020004" pitchFamily="2" charset="0"/>
              </a:rPr>
              <a:t>Roles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BE35856-EED9-F9B1-6B7D-AEBC8ED1895B}"/>
              </a:ext>
            </a:extLst>
          </p:cNvPr>
          <p:cNvSpPr txBox="1"/>
          <p:nvPr/>
        </p:nvSpPr>
        <p:spPr>
          <a:xfrm>
            <a:off x="9214209" y="1902740"/>
            <a:ext cx="1130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US" sz="1800">
                <a:solidFill>
                  <a:schemeClr val="tx1"/>
                </a:solidFill>
                <a:latin typeface="Linik Sans" panose="02000503000000020004" pitchFamily="2" charset="0"/>
                <a:ea typeface="Linik Sans" panose="02000503000000020004" pitchFamily="2" charset="0"/>
                <a:cs typeface="Helvetica Neue Medium" panose="02000503000000020004" pitchFamily="2" charset="0"/>
              </a:rPr>
              <a:t>Results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7F256C3-011F-F2F9-537C-A4A03D999D61}"/>
              </a:ext>
            </a:extLst>
          </p:cNvPr>
          <p:cNvSpPr txBox="1"/>
          <p:nvPr/>
        </p:nvSpPr>
        <p:spPr>
          <a:xfrm>
            <a:off x="5626322" y="5646004"/>
            <a:ext cx="1060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US" sz="1800">
                <a:solidFill>
                  <a:schemeClr val="tx1"/>
                </a:solidFill>
                <a:latin typeface="Linik Sans" panose="02000503000000020004" pitchFamily="2" charset="0"/>
                <a:ea typeface="Linik Sans" panose="02000503000000020004" pitchFamily="2" charset="0"/>
                <a:cs typeface="Helvetica Neue Medium" panose="02000503000000020004" pitchFamily="2" charset="0"/>
              </a:rPr>
              <a:t>Learn</a:t>
            </a:r>
          </a:p>
        </p:txBody>
      </p:sp>
      <p:sp>
        <p:nvSpPr>
          <p:cNvPr id="44" name="Right Bracket 43">
            <a:extLst>
              <a:ext uri="{FF2B5EF4-FFF2-40B4-BE49-F238E27FC236}">
                <a16:creationId xmlns:a16="http://schemas.microsoft.com/office/drawing/2014/main" id="{6DA9D753-0BF6-CB02-03F9-E314B627EB94}"/>
              </a:ext>
            </a:extLst>
          </p:cNvPr>
          <p:cNvSpPr/>
          <p:nvPr/>
        </p:nvSpPr>
        <p:spPr>
          <a:xfrm>
            <a:off x="3558351" y="2743202"/>
            <a:ext cx="97971" cy="2906486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BE8BA4A4-619C-95BD-F26E-1A056396EB73}"/>
              </a:ext>
            </a:extLst>
          </p:cNvPr>
          <p:cNvSpPr/>
          <p:nvPr/>
        </p:nvSpPr>
        <p:spPr>
          <a:xfrm>
            <a:off x="4816930" y="3788231"/>
            <a:ext cx="2367642" cy="816428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Bracket 52">
            <a:extLst>
              <a:ext uri="{FF2B5EF4-FFF2-40B4-BE49-F238E27FC236}">
                <a16:creationId xmlns:a16="http://schemas.microsoft.com/office/drawing/2014/main" id="{1C307A72-D31A-EA89-8629-85BBBD9CE500}"/>
              </a:ext>
            </a:extLst>
          </p:cNvPr>
          <p:cNvSpPr/>
          <p:nvPr/>
        </p:nvSpPr>
        <p:spPr>
          <a:xfrm flipH="1">
            <a:off x="8515473" y="2715987"/>
            <a:ext cx="97971" cy="2906486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40FC221-E312-EF27-A0F9-2495E4D4EE08}"/>
              </a:ext>
            </a:extLst>
          </p:cNvPr>
          <p:cNvCxnSpPr>
            <a:cxnSpLocks/>
          </p:cNvCxnSpPr>
          <p:nvPr/>
        </p:nvCxnSpPr>
        <p:spPr>
          <a:xfrm>
            <a:off x="7689574" y="4042086"/>
            <a:ext cx="791817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D30BBE81-0C6B-B7CD-4476-C104324B60BC}"/>
              </a:ext>
            </a:extLst>
          </p:cNvPr>
          <p:cNvCxnSpPr>
            <a:cxnSpLocks/>
            <a:stCxn id="29" idx="2"/>
            <a:endCxn id="42" idx="3"/>
          </p:cNvCxnSpPr>
          <p:nvPr/>
        </p:nvCxnSpPr>
        <p:spPr>
          <a:xfrm rot="5400000">
            <a:off x="8155076" y="4155907"/>
            <a:ext cx="206892" cy="314263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4F1D6E5B-5374-9DD7-2437-1506C8313317}"/>
              </a:ext>
            </a:extLst>
          </p:cNvPr>
          <p:cNvSpPr txBox="1"/>
          <p:nvPr/>
        </p:nvSpPr>
        <p:spPr>
          <a:xfrm>
            <a:off x="1375861" y="2202101"/>
            <a:ext cx="2465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US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Develop hypotheses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3E389B6-DF14-CCDE-835E-E16F765B007C}"/>
              </a:ext>
            </a:extLst>
          </p:cNvPr>
          <p:cNvSpPr txBox="1"/>
          <p:nvPr/>
        </p:nvSpPr>
        <p:spPr>
          <a:xfrm>
            <a:off x="4863591" y="2218430"/>
            <a:ext cx="2628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US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Convert into and track OKRs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2830D85-93A7-67A7-9C0C-0621164E40DE}"/>
              </a:ext>
            </a:extLst>
          </p:cNvPr>
          <p:cNvSpPr txBox="1"/>
          <p:nvPr/>
        </p:nvSpPr>
        <p:spPr>
          <a:xfrm>
            <a:off x="8584606" y="2198916"/>
            <a:ext cx="2383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US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Manage execution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592DDC-86F5-5560-D1DB-F02A6FE1847C}"/>
              </a:ext>
            </a:extLst>
          </p:cNvPr>
          <p:cNvSpPr txBox="1"/>
          <p:nvPr/>
        </p:nvSpPr>
        <p:spPr>
          <a:xfrm>
            <a:off x="4761471" y="5987901"/>
            <a:ext cx="2849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US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Turn outcomes into advantage</a:t>
            </a:r>
          </a:p>
        </p:txBody>
      </p:sp>
      <p:pic>
        <p:nvPicPr>
          <p:cNvPr id="19" name="Graphic 18" descr="Online meeting outline">
            <a:extLst>
              <a:ext uri="{FF2B5EF4-FFF2-40B4-BE49-F238E27FC236}">
                <a16:creationId xmlns:a16="http://schemas.microsoft.com/office/drawing/2014/main" id="{8C4446B7-1C56-2149-0C1C-EE751E70F0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77512" y="3851261"/>
            <a:ext cx="676800" cy="676800"/>
          </a:xfrm>
          <a:prstGeom prst="rect">
            <a:avLst/>
          </a:prstGeom>
        </p:spPr>
      </p:pic>
      <p:pic>
        <p:nvPicPr>
          <p:cNvPr id="21" name="Graphic 20" descr="Meeting outline">
            <a:extLst>
              <a:ext uri="{FF2B5EF4-FFF2-40B4-BE49-F238E27FC236}">
                <a16:creationId xmlns:a16="http://schemas.microsoft.com/office/drawing/2014/main" id="{AB1638D4-0038-D24C-A0A7-65EB4A08157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45912" y="2994822"/>
            <a:ext cx="540000" cy="540000"/>
          </a:xfrm>
          <a:prstGeom prst="rect">
            <a:avLst/>
          </a:prstGeom>
        </p:spPr>
      </p:pic>
      <p:pic>
        <p:nvPicPr>
          <p:cNvPr id="17" name="Graphic 16" descr="Teacher outline">
            <a:extLst>
              <a:ext uri="{FF2B5EF4-FFF2-40B4-BE49-F238E27FC236}">
                <a16:creationId xmlns:a16="http://schemas.microsoft.com/office/drawing/2014/main" id="{3301E4C4-A24B-3F33-BF87-899E0D235F3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40745" y="4970101"/>
            <a:ext cx="550333" cy="550333"/>
          </a:xfrm>
          <a:prstGeom prst="rect">
            <a:avLst/>
          </a:prstGeom>
        </p:spPr>
      </p:pic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A3C2C178-5623-50C4-1BF6-5F3F098A57F0}"/>
              </a:ext>
            </a:extLst>
          </p:cNvPr>
          <p:cNvCxnSpPr>
            <a:cxnSpLocks/>
            <a:stCxn id="42" idx="1"/>
            <a:endCxn id="16" idx="2"/>
          </p:cNvCxnSpPr>
          <p:nvPr/>
        </p:nvCxnSpPr>
        <p:spPr>
          <a:xfrm rot="10800000">
            <a:off x="2574236" y="5585792"/>
            <a:ext cx="3052087" cy="2448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99B72EB-C91E-DD08-9AF9-CA3B924B7A97}"/>
              </a:ext>
            </a:extLst>
          </p:cNvPr>
          <p:cNvSpPr/>
          <p:nvPr/>
        </p:nvSpPr>
        <p:spPr>
          <a:xfrm>
            <a:off x="2047461" y="4949687"/>
            <a:ext cx="1053548" cy="63610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2E7B0A-553F-AC99-8DA2-A78A50E16C72}"/>
              </a:ext>
            </a:extLst>
          </p:cNvPr>
          <p:cNvCxnSpPr>
            <a:cxnSpLocks/>
          </p:cNvCxnSpPr>
          <p:nvPr/>
        </p:nvCxnSpPr>
        <p:spPr>
          <a:xfrm>
            <a:off x="3656322" y="4044045"/>
            <a:ext cx="930918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82678A6-467F-16AB-013C-36D0B84FB1E8}"/>
              </a:ext>
            </a:extLst>
          </p:cNvPr>
          <p:cNvSpPr txBox="1"/>
          <p:nvPr/>
        </p:nvSpPr>
        <p:spPr>
          <a:xfrm>
            <a:off x="829581" y="1187450"/>
            <a:ext cx="5572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Linik Sans ExtraLight" panose="02000503000000020004" pitchFamily="2" charset="0"/>
                <a:ea typeface="Linik Sans ExtraLight" panose="02000503000000020004" pitchFamily="2" charset="0"/>
              </a:rPr>
              <a:t>Missing Link Between Strategy and Outcomes</a:t>
            </a:r>
            <a:endParaRPr lang="en-US" sz="1800"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  <p:pic>
        <p:nvPicPr>
          <p:cNvPr id="28" name="Graphic 27" descr="Bullseye outline">
            <a:extLst>
              <a:ext uri="{FF2B5EF4-FFF2-40B4-BE49-F238E27FC236}">
                <a16:creationId xmlns:a16="http://schemas.microsoft.com/office/drawing/2014/main" id="{3285FFC1-F9C0-543C-EEE6-1B2A452CC91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31789" y="1879413"/>
            <a:ext cx="367997" cy="360000"/>
          </a:xfrm>
          <a:prstGeom prst="rect">
            <a:avLst/>
          </a:prstGeom>
        </p:spPr>
      </p:pic>
      <p:pic>
        <p:nvPicPr>
          <p:cNvPr id="30" name="Graphic 29" descr="Users outline">
            <a:extLst>
              <a:ext uri="{FF2B5EF4-FFF2-40B4-BE49-F238E27FC236}">
                <a16:creationId xmlns:a16="http://schemas.microsoft.com/office/drawing/2014/main" id="{81D56208-0FFD-3045-F347-A924F3E92D3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59498" y="1911047"/>
            <a:ext cx="367997" cy="360000"/>
          </a:xfrm>
          <a:prstGeom prst="rect">
            <a:avLst/>
          </a:prstGeom>
        </p:spPr>
      </p:pic>
      <p:pic>
        <p:nvPicPr>
          <p:cNvPr id="32" name="Graphic 31" descr="Upward trend outline">
            <a:extLst>
              <a:ext uri="{FF2B5EF4-FFF2-40B4-BE49-F238E27FC236}">
                <a16:creationId xmlns:a16="http://schemas.microsoft.com/office/drawing/2014/main" id="{E9A3D11C-08D6-199F-D846-97300E2FFF1C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227479" y="1886058"/>
            <a:ext cx="360000" cy="3600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B128ACC3-728E-DC97-BF14-033FA62DEBB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19862" y="3805881"/>
            <a:ext cx="3055336" cy="62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160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63" grpId="0" animBg="1"/>
      <p:bldP spid="39" grpId="0"/>
      <p:bldP spid="40" grpId="0"/>
      <p:bldP spid="41" grpId="0"/>
      <p:bldP spid="42" grpId="0"/>
      <p:bldP spid="44" grpId="0" animBg="1"/>
      <p:bldP spid="53" grpId="0" animBg="1"/>
      <p:bldP spid="65" grpId="0"/>
      <p:bldP spid="66" grpId="0"/>
      <p:bldP spid="72" grpId="0"/>
      <p:bldP spid="73" grpId="0"/>
      <p:bldP spid="16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E8C07-8193-7FA8-A0FA-7BA56B812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C444C5-872F-2FA0-6D47-69D99B04302D}"/>
              </a:ext>
            </a:extLst>
          </p:cNvPr>
          <p:cNvSpPr/>
          <p:nvPr/>
        </p:nvSpPr>
        <p:spPr>
          <a:xfrm>
            <a:off x="0" y="21590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Linik Sans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D0D71D-50CB-A3CA-DB2C-A6F0671A1D12}"/>
              </a:ext>
            </a:extLst>
          </p:cNvPr>
          <p:cNvSpPr txBox="1"/>
          <p:nvPr/>
        </p:nvSpPr>
        <p:spPr>
          <a:xfrm>
            <a:off x="6571471" y="1782139"/>
            <a:ext cx="2000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CA" sz="120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" panose="02000503000000020004" pitchFamily="2" charset="0"/>
                <a:ea typeface="Linik Sans" panose="02000503000000020004" pitchFamily="2" charset="0"/>
                <a:cs typeface="Arial" panose="020B0604020202020204" pitchFamily="34" charset="0"/>
              </a:rPr>
              <a:t>Objectives</a:t>
            </a:r>
            <a:br>
              <a:rPr lang="en-CA" sz="120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" panose="02000503000000020004" pitchFamily="2" charset="0"/>
                <a:ea typeface="Linik Sans" panose="02000503000000020004" pitchFamily="2" charset="0"/>
                <a:cs typeface="Arial" panose="020B0604020202020204" pitchFamily="34" charset="0"/>
              </a:rPr>
            </a:br>
            <a:r>
              <a:rPr lang="en-CA" sz="120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" panose="02000503000000020004" pitchFamily="2" charset="0"/>
                <a:ea typeface="Linik Sans" panose="02000503000000020004" pitchFamily="2" charset="0"/>
                <a:cs typeface="Arial" panose="020B0604020202020204" pitchFamily="34" charset="0"/>
              </a:rPr>
              <a:t>(Projects)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D2A959-57DE-4684-09F0-5FF2826385E3}"/>
              </a:ext>
            </a:extLst>
          </p:cNvPr>
          <p:cNvSpPr txBox="1"/>
          <p:nvPr/>
        </p:nvSpPr>
        <p:spPr>
          <a:xfrm>
            <a:off x="8905403" y="1787584"/>
            <a:ext cx="2000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CA" sz="120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" panose="02000503000000020004" pitchFamily="2" charset="0"/>
                <a:ea typeface="Linik Sans" panose="02000503000000020004" pitchFamily="2" charset="0"/>
                <a:cs typeface="Arial" panose="020B0604020202020204" pitchFamily="34" charset="0"/>
              </a:rPr>
              <a:t>Key Results</a:t>
            </a:r>
            <a:br>
              <a:rPr lang="en-CA" sz="120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" panose="02000503000000020004" pitchFamily="2" charset="0"/>
                <a:ea typeface="Linik Sans" panose="02000503000000020004" pitchFamily="2" charset="0"/>
                <a:cs typeface="Arial" panose="020B0604020202020204" pitchFamily="34" charset="0"/>
              </a:rPr>
            </a:br>
            <a:r>
              <a:rPr lang="en-CA" sz="120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" panose="02000503000000020004" pitchFamily="2" charset="0"/>
                <a:ea typeface="Linik Sans" panose="02000503000000020004" pitchFamily="2" charset="0"/>
                <a:cs typeface="Arial" panose="020B0604020202020204" pitchFamily="34" charset="0"/>
              </a:rPr>
              <a:t>(Projects)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082E60-8534-C222-9D30-390FBF730EC5}"/>
              </a:ext>
            </a:extLst>
          </p:cNvPr>
          <p:cNvSpPr txBox="1"/>
          <p:nvPr/>
        </p:nvSpPr>
        <p:spPr>
          <a:xfrm>
            <a:off x="1094510" y="1755842"/>
            <a:ext cx="2000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CA" sz="120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" panose="02000503000000020004" pitchFamily="2" charset="0"/>
                <a:ea typeface="Linik Sans" panose="02000503000000020004" pitchFamily="2" charset="0"/>
                <a:cs typeface="Arial" panose="020B0604020202020204" pitchFamily="34" charset="0"/>
              </a:rPr>
              <a:t>Priorities</a:t>
            </a:r>
            <a:br>
              <a:rPr lang="en-CA" sz="120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" panose="02000503000000020004" pitchFamily="2" charset="0"/>
                <a:ea typeface="Linik Sans" panose="02000503000000020004" pitchFamily="2" charset="0"/>
                <a:cs typeface="Arial" panose="020B0604020202020204" pitchFamily="34" charset="0"/>
              </a:rPr>
            </a:br>
            <a:r>
              <a:rPr lang="en-CA" sz="120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" panose="02000503000000020004" pitchFamily="2" charset="0"/>
                <a:ea typeface="Linik Sans" panose="02000503000000020004" pitchFamily="2" charset="0"/>
                <a:cs typeface="Arial" panose="020B0604020202020204" pitchFamily="34" charset="0"/>
              </a:rPr>
              <a:t>(Company)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1FAC1-A3D9-B1C8-0337-BAE5BE27568F}"/>
              </a:ext>
            </a:extLst>
          </p:cNvPr>
          <p:cNvSpPr txBox="1"/>
          <p:nvPr/>
        </p:nvSpPr>
        <p:spPr>
          <a:xfrm>
            <a:off x="3799699" y="1755842"/>
            <a:ext cx="2000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CA" sz="120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" panose="02000503000000020004" pitchFamily="2" charset="0"/>
                <a:ea typeface="Linik Sans" panose="02000503000000020004" pitchFamily="2" charset="0"/>
                <a:cs typeface="Arial" panose="020B0604020202020204" pitchFamily="34" charset="0"/>
              </a:rPr>
              <a:t>Goals</a:t>
            </a:r>
            <a:br>
              <a:rPr lang="en-CA" sz="120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" panose="02000503000000020004" pitchFamily="2" charset="0"/>
                <a:ea typeface="Linik Sans" panose="02000503000000020004" pitchFamily="2" charset="0"/>
                <a:cs typeface="Arial" panose="020B0604020202020204" pitchFamily="34" charset="0"/>
              </a:rPr>
            </a:br>
            <a:r>
              <a:rPr lang="en-CA" sz="120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" panose="02000503000000020004" pitchFamily="2" charset="0"/>
                <a:ea typeface="Linik Sans" panose="02000503000000020004" pitchFamily="2" charset="0"/>
                <a:cs typeface="Arial" panose="020B0604020202020204" pitchFamily="34" charset="0"/>
              </a:rPr>
              <a:t>(Team)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92E9E4-EFEE-A5A2-1AA6-4EAFD536C275}"/>
              </a:ext>
            </a:extLst>
          </p:cNvPr>
          <p:cNvSpPr/>
          <p:nvPr/>
        </p:nvSpPr>
        <p:spPr>
          <a:xfrm>
            <a:off x="3787556" y="2759773"/>
            <a:ext cx="2328103" cy="579797"/>
          </a:xfrm>
          <a:prstGeom prst="roundRect">
            <a:avLst/>
          </a:prstGeom>
          <a:solidFill>
            <a:srgbClr val="7D9FC5"/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AF6BD6D-3E26-5A71-3197-76622E0C1FE4}"/>
              </a:ext>
            </a:extLst>
          </p:cNvPr>
          <p:cNvSpPr/>
          <p:nvPr/>
        </p:nvSpPr>
        <p:spPr>
          <a:xfrm>
            <a:off x="6457663" y="2733581"/>
            <a:ext cx="2328103" cy="25798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98EB508-6780-B52D-6061-5F3C0B8B9E42}"/>
              </a:ext>
            </a:extLst>
          </p:cNvPr>
          <p:cNvSpPr/>
          <p:nvPr/>
        </p:nvSpPr>
        <p:spPr>
          <a:xfrm>
            <a:off x="8978250" y="2708978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90347C9-B89B-77E0-7DF7-40F91E92F551}"/>
              </a:ext>
            </a:extLst>
          </p:cNvPr>
          <p:cNvSpPr/>
          <p:nvPr/>
        </p:nvSpPr>
        <p:spPr>
          <a:xfrm>
            <a:off x="8908090" y="2827129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0771AF7-ED06-7A17-ADBA-BD20B19382E7}"/>
              </a:ext>
            </a:extLst>
          </p:cNvPr>
          <p:cNvSpPr/>
          <p:nvPr/>
        </p:nvSpPr>
        <p:spPr>
          <a:xfrm>
            <a:off x="8902097" y="2924419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905C65C-94B5-F0A3-5190-9438E95CE6CF}"/>
              </a:ext>
            </a:extLst>
          </p:cNvPr>
          <p:cNvSpPr/>
          <p:nvPr/>
        </p:nvSpPr>
        <p:spPr>
          <a:xfrm>
            <a:off x="6445681" y="3429024"/>
            <a:ext cx="2328103" cy="25798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A0D4BEA-B52A-BF94-69A2-D550FD2E57E4}"/>
              </a:ext>
            </a:extLst>
          </p:cNvPr>
          <p:cNvSpPr/>
          <p:nvPr/>
        </p:nvSpPr>
        <p:spPr>
          <a:xfrm>
            <a:off x="8902101" y="3436506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B382B70-2DE9-1C2C-C799-03813B61989B}"/>
              </a:ext>
            </a:extLst>
          </p:cNvPr>
          <p:cNvSpPr/>
          <p:nvPr/>
        </p:nvSpPr>
        <p:spPr>
          <a:xfrm>
            <a:off x="8914082" y="3522572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36A88EB7-A6E0-69E5-7CCF-4C115353FC8D}"/>
              </a:ext>
            </a:extLst>
          </p:cNvPr>
          <p:cNvSpPr/>
          <p:nvPr/>
        </p:nvSpPr>
        <p:spPr>
          <a:xfrm>
            <a:off x="6444907" y="4224244"/>
            <a:ext cx="2328103" cy="25798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7A1BD4AD-139F-D240-C07E-96D76B88D07E}"/>
              </a:ext>
            </a:extLst>
          </p:cNvPr>
          <p:cNvSpPr/>
          <p:nvPr/>
        </p:nvSpPr>
        <p:spPr>
          <a:xfrm>
            <a:off x="8901326" y="4231726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3D12F99D-221C-B7F0-61E9-480FC2521AB0}"/>
              </a:ext>
            </a:extLst>
          </p:cNvPr>
          <p:cNvSpPr/>
          <p:nvPr/>
        </p:nvSpPr>
        <p:spPr>
          <a:xfrm>
            <a:off x="8895333" y="4317791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C66011D4-EE01-89B0-F322-D3CF23BF4A39}"/>
              </a:ext>
            </a:extLst>
          </p:cNvPr>
          <p:cNvSpPr/>
          <p:nvPr/>
        </p:nvSpPr>
        <p:spPr>
          <a:xfrm>
            <a:off x="8889341" y="4415082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C4E9B19C-E187-4A55-9E83-41520F9D8FF1}"/>
              </a:ext>
            </a:extLst>
          </p:cNvPr>
          <p:cNvSpPr/>
          <p:nvPr/>
        </p:nvSpPr>
        <p:spPr>
          <a:xfrm>
            <a:off x="6432925" y="4545138"/>
            <a:ext cx="2328103" cy="25798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42DD51A5-32F8-B847-787F-409CBD78E2B0}"/>
              </a:ext>
            </a:extLst>
          </p:cNvPr>
          <p:cNvSpPr/>
          <p:nvPr/>
        </p:nvSpPr>
        <p:spPr>
          <a:xfrm>
            <a:off x="8889343" y="4552620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26F92D81-6A01-91EB-C3A1-987E1B9C2A49}"/>
              </a:ext>
            </a:extLst>
          </p:cNvPr>
          <p:cNvSpPr/>
          <p:nvPr/>
        </p:nvSpPr>
        <p:spPr>
          <a:xfrm>
            <a:off x="8901326" y="4638685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B850BECD-C7A1-FA4D-3960-F05A15E7A767}"/>
              </a:ext>
            </a:extLst>
          </p:cNvPr>
          <p:cNvSpPr/>
          <p:nvPr/>
        </p:nvSpPr>
        <p:spPr>
          <a:xfrm>
            <a:off x="8895333" y="4735975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D8807C3C-0ED5-FF96-8901-2070E02BA2DF}"/>
              </a:ext>
            </a:extLst>
          </p:cNvPr>
          <p:cNvSpPr/>
          <p:nvPr/>
        </p:nvSpPr>
        <p:spPr>
          <a:xfrm>
            <a:off x="3781565" y="3418357"/>
            <a:ext cx="2328103" cy="579797"/>
          </a:xfrm>
          <a:prstGeom prst="roundRect">
            <a:avLst/>
          </a:prstGeom>
          <a:solidFill>
            <a:srgbClr val="7D9FC5"/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117EE9C0-73BD-3B96-D256-1275FD2F1630}"/>
              </a:ext>
            </a:extLst>
          </p:cNvPr>
          <p:cNvSpPr/>
          <p:nvPr/>
        </p:nvSpPr>
        <p:spPr>
          <a:xfrm>
            <a:off x="3799699" y="4091908"/>
            <a:ext cx="2328103" cy="579797"/>
          </a:xfrm>
          <a:prstGeom prst="roundRect">
            <a:avLst/>
          </a:prstGeom>
          <a:solidFill>
            <a:srgbClr val="7D9FC5"/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32B8681F-5DED-2AA3-E57A-F609436EBC2A}"/>
              </a:ext>
            </a:extLst>
          </p:cNvPr>
          <p:cNvSpPr/>
          <p:nvPr/>
        </p:nvSpPr>
        <p:spPr>
          <a:xfrm>
            <a:off x="3793708" y="4750492"/>
            <a:ext cx="2328103" cy="579797"/>
          </a:xfrm>
          <a:prstGeom prst="roundRect">
            <a:avLst/>
          </a:prstGeom>
          <a:solidFill>
            <a:srgbClr val="7D9FC5"/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E1CA2B82-6B3C-47D6-F738-8E0953A0C32B}"/>
              </a:ext>
            </a:extLst>
          </p:cNvPr>
          <p:cNvSpPr/>
          <p:nvPr/>
        </p:nvSpPr>
        <p:spPr>
          <a:xfrm>
            <a:off x="3799699" y="5397849"/>
            <a:ext cx="2328103" cy="579797"/>
          </a:xfrm>
          <a:prstGeom prst="roundRect">
            <a:avLst/>
          </a:prstGeom>
          <a:solidFill>
            <a:srgbClr val="7D9FC5"/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604AA65C-62BC-A565-8044-3704F73066E3}"/>
              </a:ext>
            </a:extLst>
          </p:cNvPr>
          <p:cNvSpPr/>
          <p:nvPr/>
        </p:nvSpPr>
        <p:spPr>
          <a:xfrm>
            <a:off x="6444907" y="5420583"/>
            <a:ext cx="2328103" cy="25798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C3174863-9384-77F4-BDAA-25C46DFEF8C0}"/>
              </a:ext>
            </a:extLst>
          </p:cNvPr>
          <p:cNvSpPr/>
          <p:nvPr/>
        </p:nvSpPr>
        <p:spPr>
          <a:xfrm>
            <a:off x="8901326" y="5428066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F1898C52-0804-F502-C560-825A58166083}"/>
              </a:ext>
            </a:extLst>
          </p:cNvPr>
          <p:cNvSpPr/>
          <p:nvPr/>
        </p:nvSpPr>
        <p:spPr>
          <a:xfrm>
            <a:off x="8913308" y="5514131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0E0AA687-A34A-5045-25B8-43477CF5100E}"/>
              </a:ext>
            </a:extLst>
          </p:cNvPr>
          <p:cNvSpPr/>
          <p:nvPr/>
        </p:nvSpPr>
        <p:spPr>
          <a:xfrm>
            <a:off x="8907316" y="5611421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94" name="Rounded Rectangle 93">
            <a:extLst>
              <a:ext uri="{FF2B5EF4-FFF2-40B4-BE49-F238E27FC236}">
                <a16:creationId xmlns:a16="http://schemas.microsoft.com/office/drawing/2014/main" id="{45A42EC0-83C0-2B14-C5BD-37B5097E6E23}"/>
              </a:ext>
            </a:extLst>
          </p:cNvPr>
          <p:cNvSpPr/>
          <p:nvPr/>
        </p:nvSpPr>
        <p:spPr>
          <a:xfrm>
            <a:off x="6450897" y="5716616"/>
            <a:ext cx="2328103" cy="25798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409AFB96-00FE-5E31-837D-467361133A42}"/>
              </a:ext>
            </a:extLst>
          </p:cNvPr>
          <p:cNvSpPr/>
          <p:nvPr/>
        </p:nvSpPr>
        <p:spPr>
          <a:xfrm>
            <a:off x="8907317" y="5724098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71FFABA0-CA52-F63A-27C0-CD3230BD3294}"/>
              </a:ext>
            </a:extLst>
          </p:cNvPr>
          <p:cNvSpPr/>
          <p:nvPr/>
        </p:nvSpPr>
        <p:spPr>
          <a:xfrm>
            <a:off x="8919298" y="5810164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604A4B3A-A986-CE9B-A42D-FCCE70D5CE3B}"/>
              </a:ext>
            </a:extLst>
          </p:cNvPr>
          <p:cNvSpPr/>
          <p:nvPr/>
        </p:nvSpPr>
        <p:spPr>
          <a:xfrm>
            <a:off x="8913306" y="5907454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6AB98564-D613-2B83-DAA1-87A142DEF141}"/>
              </a:ext>
            </a:extLst>
          </p:cNvPr>
          <p:cNvSpPr/>
          <p:nvPr/>
        </p:nvSpPr>
        <p:spPr>
          <a:xfrm>
            <a:off x="957680" y="2767051"/>
            <a:ext cx="2328103" cy="722011"/>
          </a:xfrm>
          <a:prstGeom prst="roundRect">
            <a:avLst/>
          </a:prstGeom>
          <a:solidFill>
            <a:srgbClr val="365469"/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B06D9EE-8284-9B63-AEA3-637142E987F0}"/>
              </a:ext>
            </a:extLst>
          </p:cNvPr>
          <p:cNvSpPr/>
          <p:nvPr/>
        </p:nvSpPr>
        <p:spPr>
          <a:xfrm>
            <a:off x="951689" y="3587175"/>
            <a:ext cx="2328103" cy="722011"/>
          </a:xfrm>
          <a:prstGeom prst="roundRect">
            <a:avLst/>
          </a:prstGeom>
          <a:solidFill>
            <a:srgbClr val="365469"/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46FC6684-9B2F-9CD6-FCEF-167A6C6ECE1A}"/>
              </a:ext>
            </a:extLst>
          </p:cNvPr>
          <p:cNvSpPr/>
          <p:nvPr/>
        </p:nvSpPr>
        <p:spPr>
          <a:xfrm>
            <a:off x="969823" y="4425936"/>
            <a:ext cx="2328103" cy="722011"/>
          </a:xfrm>
          <a:prstGeom prst="roundRect">
            <a:avLst/>
          </a:prstGeom>
          <a:solidFill>
            <a:srgbClr val="365469"/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3A35B5B0-1570-4AAC-24E9-0CD10A3C0264}"/>
              </a:ext>
            </a:extLst>
          </p:cNvPr>
          <p:cNvSpPr/>
          <p:nvPr/>
        </p:nvSpPr>
        <p:spPr>
          <a:xfrm>
            <a:off x="963832" y="5233181"/>
            <a:ext cx="2328103" cy="722011"/>
          </a:xfrm>
          <a:prstGeom prst="roundRect">
            <a:avLst/>
          </a:prstGeom>
          <a:solidFill>
            <a:srgbClr val="365469"/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cxnSp>
        <p:nvCxnSpPr>
          <p:cNvPr id="105" name="Curved Connector 104">
            <a:extLst>
              <a:ext uri="{FF2B5EF4-FFF2-40B4-BE49-F238E27FC236}">
                <a16:creationId xmlns:a16="http://schemas.microsoft.com/office/drawing/2014/main" id="{978EE300-2FFF-256B-FDEE-FB0A5FB8753F}"/>
              </a:ext>
            </a:extLst>
          </p:cNvPr>
          <p:cNvCxnSpPr>
            <a:stCxn id="9" idx="1"/>
            <a:endCxn id="98" idx="3"/>
          </p:cNvCxnSpPr>
          <p:nvPr/>
        </p:nvCxnSpPr>
        <p:spPr>
          <a:xfrm rot="10800000" flipV="1">
            <a:off x="3285785" y="3049671"/>
            <a:ext cx="501774" cy="78385"/>
          </a:xfrm>
          <a:prstGeom prst="curvedConnector3">
            <a:avLst/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urved Connector 108">
            <a:extLst>
              <a:ext uri="{FF2B5EF4-FFF2-40B4-BE49-F238E27FC236}">
                <a16:creationId xmlns:a16="http://schemas.microsoft.com/office/drawing/2014/main" id="{AB115B8B-672E-8C2C-C673-C861E9B5D082}"/>
              </a:ext>
            </a:extLst>
          </p:cNvPr>
          <p:cNvCxnSpPr>
            <a:cxnSpLocks/>
            <a:stCxn id="84" idx="1"/>
            <a:endCxn id="99" idx="3"/>
          </p:cNvCxnSpPr>
          <p:nvPr/>
        </p:nvCxnSpPr>
        <p:spPr>
          <a:xfrm rot="10800000" flipV="1">
            <a:off x="3279794" y="3708255"/>
            <a:ext cx="501774" cy="239925"/>
          </a:xfrm>
          <a:prstGeom prst="curvedConnector3">
            <a:avLst/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urved Connector 111">
            <a:extLst>
              <a:ext uri="{FF2B5EF4-FFF2-40B4-BE49-F238E27FC236}">
                <a16:creationId xmlns:a16="http://schemas.microsoft.com/office/drawing/2014/main" id="{8651EA9E-07A9-B0D4-FFFD-FC0622B888C4}"/>
              </a:ext>
            </a:extLst>
          </p:cNvPr>
          <p:cNvCxnSpPr>
            <a:cxnSpLocks/>
            <a:stCxn id="86" idx="1"/>
            <a:endCxn id="100" idx="3"/>
          </p:cNvCxnSpPr>
          <p:nvPr/>
        </p:nvCxnSpPr>
        <p:spPr>
          <a:xfrm rot="10800000" flipV="1">
            <a:off x="3297928" y="4381805"/>
            <a:ext cx="501774" cy="405137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114">
            <a:extLst>
              <a:ext uri="{FF2B5EF4-FFF2-40B4-BE49-F238E27FC236}">
                <a16:creationId xmlns:a16="http://schemas.microsoft.com/office/drawing/2014/main" id="{AC6306E9-48DA-A332-F99D-B111207F6B71}"/>
              </a:ext>
            </a:extLst>
          </p:cNvPr>
          <p:cNvCxnSpPr>
            <a:cxnSpLocks/>
            <a:stCxn id="87" idx="1"/>
            <a:endCxn id="100" idx="3"/>
          </p:cNvCxnSpPr>
          <p:nvPr/>
        </p:nvCxnSpPr>
        <p:spPr>
          <a:xfrm rot="10800000">
            <a:off x="3297928" y="4786943"/>
            <a:ext cx="495782" cy="253447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urved Connector 118">
            <a:extLst>
              <a:ext uri="{FF2B5EF4-FFF2-40B4-BE49-F238E27FC236}">
                <a16:creationId xmlns:a16="http://schemas.microsoft.com/office/drawing/2014/main" id="{49E4718A-24C8-ABB4-615D-6E820BCB66DE}"/>
              </a:ext>
            </a:extLst>
          </p:cNvPr>
          <p:cNvCxnSpPr>
            <a:cxnSpLocks/>
            <a:stCxn id="86" idx="1"/>
            <a:endCxn id="99" idx="3"/>
          </p:cNvCxnSpPr>
          <p:nvPr/>
        </p:nvCxnSpPr>
        <p:spPr>
          <a:xfrm rot="10800000">
            <a:off x="3279792" y="3948181"/>
            <a:ext cx="519907" cy="433625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urved Connector 122">
            <a:extLst>
              <a:ext uri="{FF2B5EF4-FFF2-40B4-BE49-F238E27FC236}">
                <a16:creationId xmlns:a16="http://schemas.microsoft.com/office/drawing/2014/main" id="{ABDC0A42-B8CB-05FC-C47D-2F58420D5E65}"/>
              </a:ext>
            </a:extLst>
          </p:cNvPr>
          <p:cNvCxnSpPr>
            <a:cxnSpLocks/>
            <a:stCxn id="89" idx="1"/>
            <a:endCxn id="102" idx="3"/>
          </p:cNvCxnSpPr>
          <p:nvPr/>
        </p:nvCxnSpPr>
        <p:spPr>
          <a:xfrm rot="10800000">
            <a:off x="3291937" y="5594186"/>
            <a:ext cx="507765" cy="93561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567D8F88-17A8-9734-BA1A-93BD667D569C}"/>
              </a:ext>
            </a:extLst>
          </p:cNvPr>
          <p:cNvSpPr/>
          <p:nvPr/>
        </p:nvSpPr>
        <p:spPr>
          <a:xfrm>
            <a:off x="4133257" y="3851475"/>
            <a:ext cx="1617641" cy="4378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3200" rIns="43200" rtlCol="0" anchor="ctr"/>
          <a:lstStyle/>
          <a:p>
            <a:r>
              <a:rPr lang="en-US" sz="960"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" panose="02000503000000020004" pitchFamily="2" charset="0"/>
              </a:rPr>
              <a:t>Multiple Goals can support a Priority</a:t>
            </a:r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C410CBAF-360D-E0E4-DB0D-749FDB3704F3}"/>
              </a:ext>
            </a:extLst>
          </p:cNvPr>
          <p:cNvSpPr/>
          <p:nvPr/>
        </p:nvSpPr>
        <p:spPr>
          <a:xfrm>
            <a:off x="1355622" y="2932850"/>
            <a:ext cx="1617641" cy="4378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3200" rIns="43200" rtlCol="0" anchor="ctr"/>
          <a:lstStyle/>
          <a:p>
            <a:r>
              <a:rPr lang="en-US" sz="960"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" panose="02000503000000020004" pitchFamily="2" charset="0"/>
              </a:rPr>
              <a:t>Every Priority has at least one Goal </a:t>
            </a:r>
          </a:p>
        </p:txBody>
      </p:sp>
      <p:cxnSp>
        <p:nvCxnSpPr>
          <p:cNvPr id="128" name="Curved Connector 127">
            <a:extLst>
              <a:ext uri="{FF2B5EF4-FFF2-40B4-BE49-F238E27FC236}">
                <a16:creationId xmlns:a16="http://schemas.microsoft.com/office/drawing/2014/main" id="{EE1DE29A-9439-2A9F-93D0-248873F0B660}"/>
              </a:ext>
            </a:extLst>
          </p:cNvPr>
          <p:cNvCxnSpPr>
            <a:cxnSpLocks/>
            <a:stCxn id="87" idx="1"/>
            <a:endCxn id="102" idx="3"/>
          </p:cNvCxnSpPr>
          <p:nvPr/>
        </p:nvCxnSpPr>
        <p:spPr>
          <a:xfrm rot="10800000" flipV="1">
            <a:off x="3291937" y="5040390"/>
            <a:ext cx="501774" cy="553796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F5A6E9E3-CB65-291B-1D5D-CF3E32109F28}"/>
              </a:ext>
            </a:extLst>
          </p:cNvPr>
          <p:cNvSpPr/>
          <p:nvPr/>
        </p:nvSpPr>
        <p:spPr>
          <a:xfrm>
            <a:off x="4178330" y="4812318"/>
            <a:ext cx="1617641" cy="4378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3200" rIns="43200" rtlCol="0" anchor="ctr"/>
          <a:lstStyle/>
          <a:p>
            <a:r>
              <a:rPr lang="en-US" sz="960"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" panose="02000503000000020004" pitchFamily="2" charset="0"/>
              </a:rPr>
              <a:t>Goals can support multiple Priorities</a:t>
            </a: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52AD75FC-640B-624F-0446-593BEDE70FBA}"/>
              </a:ext>
            </a:extLst>
          </p:cNvPr>
          <p:cNvSpPr/>
          <p:nvPr/>
        </p:nvSpPr>
        <p:spPr>
          <a:xfrm>
            <a:off x="4152853" y="5472055"/>
            <a:ext cx="1617641" cy="4378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3200" rIns="43200" rtlCol="0" anchor="ctr"/>
          <a:lstStyle/>
          <a:p>
            <a:r>
              <a:rPr lang="en-US" sz="960"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" panose="02000503000000020004" pitchFamily="2" charset="0"/>
              </a:rPr>
              <a:t>The driver tree isn’t always tidy or elegant</a:t>
            </a:r>
          </a:p>
        </p:txBody>
      </p:sp>
      <p:cxnSp>
        <p:nvCxnSpPr>
          <p:cNvPr id="135" name="Curved Connector 134">
            <a:extLst>
              <a:ext uri="{FF2B5EF4-FFF2-40B4-BE49-F238E27FC236}">
                <a16:creationId xmlns:a16="http://schemas.microsoft.com/office/drawing/2014/main" id="{7F95B776-8F89-A78C-2116-0EA34892426F}"/>
              </a:ext>
            </a:extLst>
          </p:cNvPr>
          <p:cNvCxnSpPr>
            <a:cxnSpLocks/>
            <a:stCxn id="89" idx="1"/>
            <a:endCxn id="99" idx="3"/>
          </p:cNvCxnSpPr>
          <p:nvPr/>
        </p:nvCxnSpPr>
        <p:spPr>
          <a:xfrm rot="10800000">
            <a:off x="3279792" y="3948182"/>
            <a:ext cx="519907" cy="1739567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20B8FAEB-708B-A3DC-A1D7-F89CA1B66200}"/>
              </a:ext>
            </a:extLst>
          </p:cNvPr>
          <p:cNvSpPr/>
          <p:nvPr/>
        </p:nvSpPr>
        <p:spPr>
          <a:xfrm>
            <a:off x="6396852" y="2687002"/>
            <a:ext cx="4907420" cy="345168"/>
          </a:xfrm>
          <a:prstGeom prst="roundRect">
            <a:avLst/>
          </a:prstGeom>
          <a:noFill/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3200" rIns="43200" rtlCol="0" anchor="ctr"/>
          <a:lstStyle/>
          <a:p>
            <a:endParaRPr lang="en-US" sz="960">
              <a:latin typeface="Linik Sans ExtraLight" panose="02000503000000020004" pitchFamily="2" charset="0"/>
              <a:ea typeface="Linik Sans ExtraLight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F11637A1-4D90-097E-79D0-0B5C6F2DB215}"/>
              </a:ext>
            </a:extLst>
          </p:cNvPr>
          <p:cNvSpPr/>
          <p:nvPr/>
        </p:nvSpPr>
        <p:spPr>
          <a:xfrm>
            <a:off x="6455646" y="3060600"/>
            <a:ext cx="2328103" cy="25798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832F3115-C036-498D-1146-7C8E76633067}"/>
              </a:ext>
            </a:extLst>
          </p:cNvPr>
          <p:cNvSpPr/>
          <p:nvPr/>
        </p:nvSpPr>
        <p:spPr>
          <a:xfrm>
            <a:off x="8912065" y="3068082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BDB27841-82C4-33C3-BA97-03AA38D1658F}"/>
              </a:ext>
            </a:extLst>
          </p:cNvPr>
          <p:cNvSpPr/>
          <p:nvPr/>
        </p:nvSpPr>
        <p:spPr>
          <a:xfrm>
            <a:off x="8924047" y="3154147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502F5EA1-6359-26C6-94DF-6B3126CC039F}"/>
              </a:ext>
            </a:extLst>
          </p:cNvPr>
          <p:cNvSpPr/>
          <p:nvPr/>
        </p:nvSpPr>
        <p:spPr>
          <a:xfrm>
            <a:off x="7971777" y="4136668"/>
            <a:ext cx="1617641" cy="43781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3200" rIns="43200" rtlCol="0" anchor="ctr"/>
          <a:lstStyle/>
          <a:p>
            <a:r>
              <a:rPr lang="en-US" sz="960"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" panose="02000503000000020004" pitchFamily="2" charset="0"/>
              </a:rPr>
              <a:t>Every Goal needs at least one OKR</a:t>
            </a:r>
          </a:p>
        </p:txBody>
      </p:sp>
      <p:sp>
        <p:nvSpPr>
          <p:cNvPr id="149" name="Rounded Rectangle 148">
            <a:extLst>
              <a:ext uri="{FF2B5EF4-FFF2-40B4-BE49-F238E27FC236}">
                <a16:creationId xmlns:a16="http://schemas.microsoft.com/office/drawing/2014/main" id="{094EAFCA-5470-A82C-19C8-8E0CCFAF36CC}"/>
              </a:ext>
            </a:extLst>
          </p:cNvPr>
          <p:cNvSpPr/>
          <p:nvPr/>
        </p:nvSpPr>
        <p:spPr>
          <a:xfrm>
            <a:off x="6455479" y="3721561"/>
            <a:ext cx="2328103" cy="25798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50" name="Rounded Rectangle 149">
            <a:extLst>
              <a:ext uri="{FF2B5EF4-FFF2-40B4-BE49-F238E27FC236}">
                <a16:creationId xmlns:a16="http://schemas.microsoft.com/office/drawing/2014/main" id="{46ED90E2-1EEB-016D-B6E8-4D42F34F6819}"/>
              </a:ext>
            </a:extLst>
          </p:cNvPr>
          <p:cNvSpPr/>
          <p:nvPr/>
        </p:nvSpPr>
        <p:spPr>
          <a:xfrm>
            <a:off x="8911899" y="3729044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DFD9FD4F-E117-C928-6451-24E3CC71C11E}"/>
              </a:ext>
            </a:extLst>
          </p:cNvPr>
          <p:cNvSpPr/>
          <p:nvPr/>
        </p:nvSpPr>
        <p:spPr>
          <a:xfrm>
            <a:off x="6833153" y="3528340"/>
            <a:ext cx="1822464" cy="31901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3200" rIns="43200" rtlCol="0" anchor="ctr"/>
          <a:lstStyle/>
          <a:p>
            <a:r>
              <a:rPr lang="en-US" sz="960"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" panose="02000503000000020004" pitchFamily="2" charset="0"/>
              </a:rPr>
              <a:t>Every Objective has at at least one KR (ideally, two) 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99522F9C-4D9D-B384-7204-CA4730D47B2C}"/>
              </a:ext>
            </a:extLst>
          </p:cNvPr>
          <p:cNvSpPr/>
          <p:nvPr/>
        </p:nvSpPr>
        <p:spPr>
          <a:xfrm>
            <a:off x="6431186" y="4831833"/>
            <a:ext cx="2328103" cy="25798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56" name="Rounded Rectangle 155">
            <a:extLst>
              <a:ext uri="{FF2B5EF4-FFF2-40B4-BE49-F238E27FC236}">
                <a16:creationId xmlns:a16="http://schemas.microsoft.com/office/drawing/2014/main" id="{37905A23-C055-6AFB-C198-3002475859DC}"/>
              </a:ext>
            </a:extLst>
          </p:cNvPr>
          <p:cNvSpPr/>
          <p:nvPr/>
        </p:nvSpPr>
        <p:spPr>
          <a:xfrm>
            <a:off x="8887606" y="4839315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95725250-B5B2-7415-FA56-613A0F1C4199}"/>
              </a:ext>
            </a:extLst>
          </p:cNvPr>
          <p:cNvSpPr/>
          <p:nvPr/>
        </p:nvSpPr>
        <p:spPr>
          <a:xfrm>
            <a:off x="8899587" y="4925380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D9CEBF9A-1242-6DAA-78AA-3263695B199D}"/>
              </a:ext>
            </a:extLst>
          </p:cNvPr>
          <p:cNvSpPr/>
          <p:nvPr/>
        </p:nvSpPr>
        <p:spPr>
          <a:xfrm>
            <a:off x="8893595" y="5022670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cxnSp>
        <p:nvCxnSpPr>
          <p:cNvPr id="160" name="Curved Connector 159">
            <a:extLst>
              <a:ext uri="{FF2B5EF4-FFF2-40B4-BE49-F238E27FC236}">
                <a16:creationId xmlns:a16="http://schemas.microsoft.com/office/drawing/2014/main" id="{6FCF05D3-87EA-067C-3DB2-9AE6AB5F1F7B}"/>
              </a:ext>
            </a:extLst>
          </p:cNvPr>
          <p:cNvCxnSpPr>
            <a:cxnSpLocks/>
            <a:stCxn id="17" idx="1"/>
            <a:endCxn id="9" idx="3"/>
          </p:cNvCxnSpPr>
          <p:nvPr/>
        </p:nvCxnSpPr>
        <p:spPr>
          <a:xfrm rot="10800000" flipV="1">
            <a:off x="6115661" y="2862574"/>
            <a:ext cx="342004" cy="187097"/>
          </a:xfrm>
          <a:prstGeom prst="curvedConnector3">
            <a:avLst/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urved Connector 162">
            <a:extLst>
              <a:ext uri="{FF2B5EF4-FFF2-40B4-BE49-F238E27FC236}">
                <a16:creationId xmlns:a16="http://schemas.microsoft.com/office/drawing/2014/main" id="{892B5B75-6C24-0664-120B-EF5C49E10C73}"/>
              </a:ext>
            </a:extLst>
          </p:cNvPr>
          <p:cNvCxnSpPr>
            <a:cxnSpLocks/>
            <a:stCxn id="141" idx="1"/>
            <a:endCxn id="9" idx="3"/>
          </p:cNvCxnSpPr>
          <p:nvPr/>
        </p:nvCxnSpPr>
        <p:spPr>
          <a:xfrm rot="10800000">
            <a:off x="6115661" y="3049671"/>
            <a:ext cx="339987" cy="139923"/>
          </a:xfrm>
          <a:prstGeom prst="curvedConnector3">
            <a:avLst/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urved Connector 165">
            <a:extLst>
              <a:ext uri="{FF2B5EF4-FFF2-40B4-BE49-F238E27FC236}">
                <a16:creationId xmlns:a16="http://schemas.microsoft.com/office/drawing/2014/main" id="{5D9EADF4-437B-29B9-4B26-D2B96D1DFCCF}"/>
              </a:ext>
            </a:extLst>
          </p:cNvPr>
          <p:cNvCxnSpPr>
            <a:cxnSpLocks/>
            <a:stCxn id="25" idx="1"/>
            <a:endCxn id="84" idx="3"/>
          </p:cNvCxnSpPr>
          <p:nvPr/>
        </p:nvCxnSpPr>
        <p:spPr>
          <a:xfrm rot="10800000" flipV="1">
            <a:off x="6109670" y="3558018"/>
            <a:ext cx="336013" cy="150237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urved Connector 168">
            <a:extLst>
              <a:ext uri="{FF2B5EF4-FFF2-40B4-BE49-F238E27FC236}">
                <a16:creationId xmlns:a16="http://schemas.microsoft.com/office/drawing/2014/main" id="{EA49A710-5C0D-EDCB-7389-67E2C7D582BC}"/>
              </a:ext>
            </a:extLst>
          </p:cNvPr>
          <p:cNvCxnSpPr>
            <a:cxnSpLocks/>
            <a:stCxn id="149" idx="1"/>
            <a:endCxn id="84" idx="3"/>
          </p:cNvCxnSpPr>
          <p:nvPr/>
        </p:nvCxnSpPr>
        <p:spPr>
          <a:xfrm rot="10800000">
            <a:off x="6109668" y="3708255"/>
            <a:ext cx="345811" cy="142300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urved Connector 171">
            <a:extLst>
              <a:ext uri="{FF2B5EF4-FFF2-40B4-BE49-F238E27FC236}">
                <a16:creationId xmlns:a16="http://schemas.microsoft.com/office/drawing/2014/main" id="{4138FF3F-8545-A23C-BE76-ECA182A9AF49}"/>
              </a:ext>
            </a:extLst>
          </p:cNvPr>
          <p:cNvCxnSpPr>
            <a:cxnSpLocks/>
            <a:stCxn id="68" idx="1"/>
            <a:endCxn id="86" idx="3"/>
          </p:cNvCxnSpPr>
          <p:nvPr/>
        </p:nvCxnSpPr>
        <p:spPr>
          <a:xfrm rot="10800000" flipV="1">
            <a:off x="6127804" y="4353237"/>
            <a:ext cx="317105" cy="28568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urved Connector 174">
            <a:extLst>
              <a:ext uri="{FF2B5EF4-FFF2-40B4-BE49-F238E27FC236}">
                <a16:creationId xmlns:a16="http://schemas.microsoft.com/office/drawing/2014/main" id="{5E6966D7-009A-7BB5-4C32-582AE1C0C002}"/>
              </a:ext>
            </a:extLst>
          </p:cNvPr>
          <p:cNvCxnSpPr>
            <a:cxnSpLocks/>
            <a:stCxn id="76" idx="1"/>
            <a:endCxn id="87" idx="3"/>
          </p:cNvCxnSpPr>
          <p:nvPr/>
        </p:nvCxnSpPr>
        <p:spPr>
          <a:xfrm rot="10800000" flipV="1">
            <a:off x="6121813" y="4674131"/>
            <a:ext cx="311114" cy="366259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17D41122-01DF-723E-B649-CCE083FF4E30}"/>
              </a:ext>
            </a:extLst>
          </p:cNvPr>
          <p:cNvSpPr/>
          <p:nvPr/>
        </p:nvSpPr>
        <p:spPr>
          <a:xfrm>
            <a:off x="6440985" y="5117025"/>
            <a:ext cx="2328103" cy="25798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0CDC3D65-AA55-B748-DBD3-3727F48A6DE3}"/>
              </a:ext>
            </a:extLst>
          </p:cNvPr>
          <p:cNvSpPr/>
          <p:nvPr/>
        </p:nvSpPr>
        <p:spPr>
          <a:xfrm>
            <a:off x="8897404" y="5124507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C8AAD078-DC74-1ABD-B60E-8F03EDD6030D}"/>
              </a:ext>
            </a:extLst>
          </p:cNvPr>
          <p:cNvSpPr/>
          <p:nvPr/>
        </p:nvSpPr>
        <p:spPr>
          <a:xfrm>
            <a:off x="8909386" y="5210573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46DA9B38-05CB-7563-2901-A02DB7A68033}"/>
              </a:ext>
            </a:extLst>
          </p:cNvPr>
          <p:cNvSpPr/>
          <p:nvPr/>
        </p:nvSpPr>
        <p:spPr>
          <a:xfrm>
            <a:off x="8903394" y="5307863"/>
            <a:ext cx="2328103" cy="6187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sz="1080" spc="-60">
              <a:solidFill>
                <a:sysClr val="windowText" lastClr="000000"/>
              </a:solidFill>
              <a:latin typeface="Linik Sans ExtraLight" panose="02000503000000020004" pitchFamily="2" charset="0"/>
              <a:ea typeface="Linik Sans ExtraLight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59" name="Rounded Rectangle 158">
            <a:extLst>
              <a:ext uri="{FF2B5EF4-FFF2-40B4-BE49-F238E27FC236}">
                <a16:creationId xmlns:a16="http://schemas.microsoft.com/office/drawing/2014/main" id="{5CDEC3CF-9347-771B-CDC1-3B80DBF99518}"/>
              </a:ext>
            </a:extLst>
          </p:cNvPr>
          <p:cNvSpPr/>
          <p:nvPr/>
        </p:nvSpPr>
        <p:spPr>
          <a:xfrm>
            <a:off x="6791997" y="5566303"/>
            <a:ext cx="1793068" cy="2786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3200" rIns="43200" rtlCol="0" anchor="ctr"/>
          <a:lstStyle/>
          <a:p>
            <a:r>
              <a:rPr lang="en-US" sz="960"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" panose="02000503000000020004" pitchFamily="2" charset="0"/>
              </a:rPr>
              <a:t>OKRs can serve multiple goals (but it’s rare)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9BE78823-5B4F-5300-FA0E-3468519F57ED}"/>
              </a:ext>
            </a:extLst>
          </p:cNvPr>
          <p:cNvSpPr/>
          <p:nvPr/>
        </p:nvSpPr>
        <p:spPr>
          <a:xfrm>
            <a:off x="6723409" y="4752341"/>
            <a:ext cx="1617641" cy="40959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3200" rIns="43200" rtlCol="0" anchor="ctr"/>
          <a:lstStyle/>
          <a:p>
            <a:r>
              <a:rPr lang="en-US" sz="960"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" panose="02000503000000020004" pitchFamily="2" charset="0"/>
              </a:rPr>
              <a:t>Most Goals have multiple OKRs</a:t>
            </a:r>
          </a:p>
        </p:txBody>
      </p:sp>
      <p:cxnSp>
        <p:nvCxnSpPr>
          <p:cNvPr id="183" name="Curved Connector 182">
            <a:extLst>
              <a:ext uri="{FF2B5EF4-FFF2-40B4-BE49-F238E27FC236}">
                <a16:creationId xmlns:a16="http://schemas.microsoft.com/office/drawing/2014/main" id="{4DF4F37C-D5B7-0F48-B4D6-FDD0BF413605}"/>
              </a:ext>
            </a:extLst>
          </p:cNvPr>
          <p:cNvCxnSpPr>
            <a:cxnSpLocks/>
            <a:stCxn id="155" idx="1"/>
            <a:endCxn id="87" idx="3"/>
          </p:cNvCxnSpPr>
          <p:nvPr/>
        </p:nvCxnSpPr>
        <p:spPr>
          <a:xfrm rot="10800000" flipV="1">
            <a:off x="6121810" y="4960826"/>
            <a:ext cx="309376" cy="79564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urved Connector 185">
            <a:extLst>
              <a:ext uri="{FF2B5EF4-FFF2-40B4-BE49-F238E27FC236}">
                <a16:creationId xmlns:a16="http://schemas.microsoft.com/office/drawing/2014/main" id="{33B1C639-A278-C197-C4FE-FDF6C86ABA1D}"/>
              </a:ext>
            </a:extLst>
          </p:cNvPr>
          <p:cNvCxnSpPr>
            <a:cxnSpLocks/>
            <a:stCxn id="179" idx="1"/>
            <a:endCxn id="87" idx="3"/>
          </p:cNvCxnSpPr>
          <p:nvPr/>
        </p:nvCxnSpPr>
        <p:spPr>
          <a:xfrm rot="10800000">
            <a:off x="6121813" y="5040391"/>
            <a:ext cx="319174" cy="205630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urved Connector 188">
            <a:extLst>
              <a:ext uri="{FF2B5EF4-FFF2-40B4-BE49-F238E27FC236}">
                <a16:creationId xmlns:a16="http://schemas.microsoft.com/office/drawing/2014/main" id="{D0B40474-2EF8-6FB7-4AA1-0420E4463759}"/>
              </a:ext>
            </a:extLst>
          </p:cNvPr>
          <p:cNvCxnSpPr>
            <a:cxnSpLocks/>
            <a:stCxn id="90" idx="1"/>
            <a:endCxn id="87" idx="3"/>
          </p:cNvCxnSpPr>
          <p:nvPr/>
        </p:nvCxnSpPr>
        <p:spPr>
          <a:xfrm rot="10800000">
            <a:off x="6121813" y="5040391"/>
            <a:ext cx="323095" cy="509187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urved Connector 192">
            <a:extLst>
              <a:ext uri="{FF2B5EF4-FFF2-40B4-BE49-F238E27FC236}">
                <a16:creationId xmlns:a16="http://schemas.microsoft.com/office/drawing/2014/main" id="{96754BC7-4AE8-F607-00DC-8DC2B80AD88D}"/>
              </a:ext>
            </a:extLst>
          </p:cNvPr>
          <p:cNvCxnSpPr>
            <a:cxnSpLocks/>
            <a:stCxn id="90" idx="1"/>
            <a:endCxn id="89" idx="3"/>
          </p:cNvCxnSpPr>
          <p:nvPr/>
        </p:nvCxnSpPr>
        <p:spPr>
          <a:xfrm rot="10800000" flipV="1">
            <a:off x="6127804" y="5549577"/>
            <a:ext cx="317105" cy="138171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urved Connector 195">
            <a:extLst>
              <a:ext uri="{FF2B5EF4-FFF2-40B4-BE49-F238E27FC236}">
                <a16:creationId xmlns:a16="http://schemas.microsoft.com/office/drawing/2014/main" id="{F3AED798-05EE-ACB3-6724-35B1F10BBBD5}"/>
              </a:ext>
            </a:extLst>
          </p:cNvPr>
          <p:cNvCxnSpPr>
            <a:cxnSpLocks/>
            <a:stCxn id="94" idx="1"/>
            <a:endCxn id="89" idx="3"/>
          </p:cNvCxnSpPr>
          <p:nvPr/>
        </p:nvCxnSpPr>
        <p:spPr>
          <a:xfrm rot="10800000">
            <a:off x="6127804" y="5687749"/>
            <a:ext cx="323095" cy="157862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>
            <a:extLst>
              <a:ext uri="{FF2B5EF4-FFF2-40B4-BE49-F238E27FC236}">
                <a16:creationId xmlns:a16="http://schemas.microsoft.com/office/drawing/2014/main" id="{1FCAAB22-35F9-B7E1-7425-455E8494E3DA}"/>
              </a:ext>
            </a:extLst>
          </p:cNvPr>
          <p:cNvSpPr txBox="1"/>
          <p:nvPr/>
        </p:nvSpPr>
        <p:spPr>
          <a:xfrm>
            <a:off x="7410836" y="2178192"/>
            <a:ext cx="26142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CA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Arial" panose="020B0604020202020204" pitchFamily="34" charset="0"/>
              </a:rPr>
              <a:t>The HOW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B1EDE675-04D1-0672-57BE-890B2042BE9F}"/>
              </a:ext>
            </a:extLst>
          </p:cNvPr>
          <p:cNvSpPr txBox="1"/>
          <p:nvPr/>
        </p:nvSpPr>
        <p:spPr>
          <a:xfrm>
            <a:off x="1142159" y="2236631"/>
            <a:ext cx="2000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CA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Arial" panose="020B0604020202020204" pitchFamily="34" charset="0"/>
              </a:rPr>
              <a:t>The WHY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3E600DE6-400A-5B3B-76A5-738C348B9481}"/>
              </a:ext>
            </a:extLst>
          </p:cNvPr>
          <p:cNvSpPr txBox="1"/>
          <p:nvPr/>
        </p:nvSpPr>
        <p:spPr>
          <a:xfrm>
            <a:off x="3821948" y="2211230"/>
            <a:ext cx="2000714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CA" sz="120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Arial" panose="020B0604020202020204" pitchFamily="34" charset="0"/>
              </a:rPr>
              <a:t>The WHAT</a:t>
            </a:r>
            <a:br>
              <a:rPr lang="en-CA" sz="105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Arial" panose="020B0604020202020204" pitchFamily="34" charset="0"/>
              </a:rPr>
            </a:br>
            <a:r>
              <a:rPr lang="en-CA" sz="105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04" name="Rounded Rectangle 203">
            <a:extLst>
              <a:ext uri="{FF2B5EF4-FFF2-40B4-BE49-F238E27FC236}">
                <a16:creationId xmlns:a16="http://schemas.microsoft.com/office/drawing/2014/main" id="{2A006FD5-5B5C-C088-C042-91220E6D4B61}"/>
              </a:ext>
            </a:extLst>
          </p:cNvPr>
          <p:cNvSpPr/>
          <p:nvPr/>
        </p:nvSpPr>
        <p:spPr>
          <a:xfrm>
            <a:off x="6286500" y="1754458"/>
            <a:ext cx="5029201" cy="763613"/>
          </a:xfrm>
          <a:prstGeom prst="roundRect">
            <a:avLst/>
          </a:prstGeom>
          <a:noFill/>
          <a:ln w="3175">
            <a:solidFill>
              <a:schemeClr val="tx1"/>
            </a:solidFill>
          </a:ln>
          <a:effectLst/>
          <a:scene3d>
            <a:camera prst="orthographicFront"/>
            <a:lightRig rig="threePt" dir="t"/>
          </a:scene3d>
          <a:sp3d prstMaterial="clear">
            <a:bevelT/>
          </a:sp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3200" rIns="43200" rtlCol="0" anchor="ctr"/>
          <a:lstStyle/>
          <a:p>
            <a:endParaRPr lang="en-US" sz="960">
              <a:latin typeface="Linik Sans ExtraLight" panose="02000503000000020004" pitchFamily="2" charset="0"/>
              <a:ea typeface="Linik Sans ExtraLight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B427C0AF-8C0C-86D5-2B3A-6D1DB853387E}"/>
              </a:ext>
            </a:extLst>
          </p:cNvPr>
          <p:cNvSpPr txBox="1"/>
          <p:nvPr/>
        </p:nvSpPr>
        <p:spPr>
          <a:xfrm>
            <a:off x="8165218" y="1831515"/>
            <a:ext cx="1069344" cy="255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440"/>
              </a:spcAft>
            </a:pPr>
            <a:r>
              <a:rPr lang="en-CA" sz="1200" spc="-60">
                <a:solidFill>
                  <a:schemeClr val="tx1">
                    <a:lumMod val="85000"/>
                    <a:lumOff val="15000"/>
                  </a:schemeClr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0E61B69F-67C7-05BE-B783-6D9A9B839602}"/>
              </a:ext>
            </a:extLst>
          </p:cNvPr>
          <p:cNvSpPr/>
          <p:nvPr/>
        </p:nvSpPr>
        <p:spPr>
          <a:xfrm>
            <a:off x="8069762" y="2505298"/>
            <a:ext cx="1679403" cy="39840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43200" rIns="43200" rtlCol="0" anchor="ctr"/>
          <a:lstStyle/>
          <a:p>
            <a:r>
              <a:rPr lang="en-US" sz="960">
                <a:latin typeface="Linik Sans ExtraLight" panose="02000503000000020004" pitchFamily="2" charset="0"/>
                <a:ea typeface="Linik Sans ExtraLight" panose="02000503000000020004" pitchFamily="2" charset="0"/>
                <a:cs typeface="Helvetica Neue" panose="02000503000000020004" pitchFamily="2" charset="0"/>
              </a:rPr>
              <a:t>All Objectives need Key Results (= an OKR)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E81A28-E3F4-D756-6F37-3B4F3A9BC1FE}"/>
              </a:ext>
            </a:extLst>
          </p:cNvPr>
          <p:cNvSpPr txBox="1">
            <a:spLocks/>
          </p:cNvSpPr>
          <p:nvPr/>
        </p:nvSpPr>
        <p:spPr>
          <a:xfrm>
            <a:off x="802575" y="644525"/>
            <a:ext cx="10515600" cy="626135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 panose="020B0604020202020204" pitchFamily="34" charset="0"/>
                <a:ea typeface="Linik Sans Light" panose="02000503000000020004" pitchFamily="2" charset="0"/>
                <a:cs typeface="Arial" panose="020B060402020202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>
                <a:solidFill>
                  <a:schemeClr val="tx1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Our USP Starts With a POV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A234D9-CD43-5C74-C430-70ED224D316E}"/>
              </a:ext>
            </a:extLst>
          </p:cNvPr>
          <p:cNvSpPr txBox="1"/>
          <p:nvPr/>
        </p:nvSpPr>
        <p:spPr>
          <a:xfrm>
            <a:off x="818695" y="1187450"/>
            <a:ext cx="3611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Linik Sans ExtraLight" panose="02000503000000020004" pitchFamily="2" charset="0"/>
                <a:ea typeface="Linik Sans ExtraLight" panose="02000503000000020004" pitchFamily="2" charset="0"/>
              </a:rPr>
              <a:t>OKRs Need Strategic Context</a:t>
            </a:r>
            <a:endParaRPr lang="en-US" sz="1800"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79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9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1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4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5" grpId="0"/>
      <p:bldP spid="46" grpId="0"/>
      <p:bldP spid="35" grpId="0"/>
      <p:bldP spid="4" grpId="0"/>
      <p:bldP spid="9" grpId="0" animBg="1"/>
      <p:bldP spid="17" grpId="0" animBg="1"/>
      <p:bldP spid="18" grpId="0" animBg="1"/>
      <p:bldP spid="18" grpId="1" animBg="1"/>
      <p:bldP spid="19" grpId="0" animBg="1"/>
      <p:bldP spid="20" grpId="0" animBg="1"/>
      <p:bldP spid="25" grpId="0" animBg="1"/>
      <p:bldP spid="26" grpId="0" animBg="1"/>
      <p:bldP spid="27" grpId="0" animBg="1"/>
      <p:bldP spid="68" grpId="0" animBg="1"/>
      <p:bldP spid="69" grpId="0" animBg="1"/>
      <p:bldP spid="70" grpId="0" animBg="1"/>
      <p:bldP spid="71" grpId="0" animBg="1"/>
      <p:bldP spid="76" grpId="0" animBg="1"/>
      <p:bldP spid="77" grpId="0" animBg="1"/>
      <p:bldP spid="78" grpId="0" animBg="1"/>
      <p:bldP spid="79" grpId="0" animBg="1"/>
      <p:bldP spid="84" grpId="0" animBg="1"/>
      <p:bldP spid="86" grpId="0" animBg="1"/>
      <p:bldP spid="87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2" grpId="0" animBg="1"/>
      <p:bldP spid="126" grpId="0" animBg="1"/>
      <p:bldP spid="127" grpId="0" animBg="1"/>
      <p:bldP spid="133" grpId="0" animBg="1"/>
      <p:bldP spid="134" grpId="0" animBg="1"/>
      <p:bldP spid="139" grpId="0" animBg="1"/>
      <p:bldP spid="141" grpId="0" animBg="1"/>
      <p:bldP spid="142" grpId="0" animBg="1"/>
      <p:bldP spid="143" grpId="0" animBg="1"/>
      <p:bldP spid="145" grpId="0" animBg="1"/>
      <p:bldP spid="149" grpId="0" animBg="1"/>
      <p:bldP spid="150" grpId="0" animBg="1"/>
      <p:bldP spid="140" grpId="0" animBg="1"/>
      <p:bldP spid="155" grpId="0" animBg="1"/>
      <p:bldP spid="156" grpId="0" animBg="1"/>
      <p:bldP spid="157" grpId="0" animBg="1"/>
      <p:bldP spid="158" grpId="0" animBg="1"/>
      <p:bldP spid="179" grpId="0" animBg="1"/>
      <p:bldP spid="180" grpId="0" animBg="1"/>
      <p:bldP spid="181" grpId="0" animBg="1"/>
      <p:bldP spid="182" grpId="0" animBg="1"/>
      <p:bldP spid="159" grpId="0" animBg="1"/>
      <p:bldP spid="148" grpId="0" animBg="1"/>
      <p:bldP spid="199" grpId="0"/>
      <p:bldP spid="201" grpId="0"/>
      <p:bldP spid="202" grpId="0"/>
      <p:bldP spid="204" grpId="0" animBg="1"/>
      <p:bldP spid="205" grpId="0"/>
      <p:bldP spid="138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32896A-0DFF-B20E-786D-08C864172E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Linik Sans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339A90-C93D-0FA8-1DC7-1D195FE1DC19}"/>
              </a:ext>
            </a:extLst>
          </p:cNvPr>
          <p:cNvSpPr txBox="1"/>
          <p:nvPr/>
        </p:nvSpPr>
        <p:spPr>
          <a:xfrm>
            <a:off x="805230" y="692150"/>
            <a:ext cx="37032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Linik Sans ExtraLight" panose="02000503000000020004" pitchFamily="2" charset="0"/>
                <a:ea typeface="Linik Sans ExtraLight" panose="02000503000000020004" pitchFamily="2" charset="0"/>
              </a:rPr>
              <a:t>How Goalytics Works</a:t>
            </a:r>
            <a:endParaRPr lang="en-US" sz="2400"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1B38D-CA43-EFFF-1B50-3A745027F045}"/>
              </a:ext>
            </a:extLst>
          </p:cNvPr>
          <p:cNvSpPr txBox="1"/>
          <p:nvPr/>
        </p:nvSpPr>
        <p:spPr>
          <a:xfrm>
            <a:off x="2400486" y="3344336"/>
            <a:ext cx="28731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CA" sz="1200">
              <a:latin typeface="Linik Sans" panose="02000503000000020004" pitchFamily="2" charset="0"/>
              <a:ea typeface="Linik Sans" panose="02000503000000020004" pitchFamily="2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E5289FD-2AFE-AB93-166B-AAF9F5A2F683}"/>
              </a:ext>
            </a:extLst>
          </p:cNvPr>
          <p:cNvSpPr>
            <a:spLocks noChangeAspect="1"/>
          </p:cNvSpPr>
          <p:nvPr/>
        </p:nvSpPr>
        <p:spPr>
          <a:xfrm>
            <a:off x="677507" y="3517542"/>
            <a:ext cx="949321" cy="934574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36000" rIns="36000"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Arial" panose="020B0604020202020204" pitchFamily="34" charset="0"/>
              </a:rPr>
              <a:t>Org/BU Strategy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13B63E-D77A-7851-06AD-9DD093E30201}"/>
              </a:ext>
            </a:extLst>
          </p:cNvPr>
          <p:cNvSpPr/>
          <p:nvPr/>
        </p:nvSpPr>
        <p:spPr>
          <a:xfrm>
            <a:off x="1923583" y="3857237"/>
            <a:ext cx="1145356" cy="255185"/>
          </a:xfrm>
          <a:prstGeom prst="roundRect">
            <a:avLst/>
          </a:prstGeom>
          <a:solidFill>
            <a:srgbClr val="F8BAAE"/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Arial" panose="020B0604020202020204" pitchFamily="34" charset="0"/>
              </a:rPr>
              <a:t>Priorities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7FBD2D7-9140-98F5-792E-CC40D6AB22AD}"/>
              </a:ext>
            </a:extLst>
          </p:cNvPr>
          <p:cNvSpPr>
            <a:spLocks noChangeAspect="1"/>
          </p:cNvSpPr>
          <p:nvPr/>
        </p:nvSpPr>
        <p:spPr>
          <a:xfrm>
            <a:off x="3365690" y="3518968"/>
            <a:ext cx="949321" cy="934574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36000" rIns="36000"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Arial" panose="020B0604020202020204" pitchFamily="34" charset="0"/>
              </a:rPr>
              <a:t>Team Plan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D07243-F5AF-90C8-1514-74EDFDE65FFE}"/>
              </a:ext>
            </a:extLst>
          </p:cNvPr>
          <p:cNvSpPr>
            <a:spLocks noChangeAspect="1"/>
          </p:cNvSpPr>
          <p:nvPr/>
        </p:nvSpPr>
        <p:spPr>
          <a:xfrm>
            <a:off x="6053875" y="3518968"/>
            <a:ext cx="949321" cy="934574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36000" rIns="36000"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Arial" panose="020B0604020202020204" pitchFamily="34" charset="0"/>
              </a:rPr>
              <a:t>Project Plan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DC1E59-9964-12FC-7B5E-B3A3184C2E9E}"/>
              </a:ext>
            </a:extLst>
          </p:cNvPr>
          <p:cNvSpPr>
            <a:spLocks noChangeAspect="1"/>
          </p:cNvSpPr>
          <p:nvPr/>
        </p:nvSpPr>
        <p:spPr>
          <a:xfrm>
            <a:off x="8742060" y="3518968"/>
            <a:ext cx="949321" cy="934574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36000" rIns="36000"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Arial" panose="020B0604020202020204" pitchFamily="34" charset="0"/>
              </a:rPr>
              <a:t>Analysis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08DFE1-9741-B59E-1050-3134D6DFD7A1}"/>
              </a:ext>
            </a:extLst>
          </p:cNvPr>
          <p:cNvSpPr/>
          <p:nvPr/>
        </p:nvSpPr>
        <p:spPr>
          <a:xfrm>
            <a:off x="4611766" y="3857237"/>
            <a:ext cx="1145356" cy="255185"/>
          </a:xfrm>
          <a:prstGeom prst="roundRect">
            <a:avLst/>
          </a:prstGeom>
          <a:solidFill>
            <a:srgbClr val="F8BAAE"/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Arial" panose="020B0604020202020204" pitchFamily="34" charset="0"/>
              </a:rPr>
              <a:t>Goals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B30F908-BC73-9F80-C019-596B9CD58FF0}"/>
              </a:ext>
            </a:extLst>
          </p:cNvPr>
          <p:cNvSpPr/>
          <p:nvPr/>
        </p:nvSpPr>
        <p:spPr>
          <a:xfrm>
            <a:off x="7299949" y="3857237"/>
            <a:ext cx="1145356" cy="255185"/>
          </a:xfrm>
          <a:prstGeom prst="roundRect">
            <a:avLst/>
          </a:prstGeom>
          <a:solidFill>
            <a:srgbClr val="F8BAAE"/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Arial" panose="020B0604020202020204" pitchFamily="34" charset="0"/>
              </a:rPr>
              <a:t>OKRs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AA79483-B6C3-AD45-3A86-E994686F8D45}"/>
              </a:ext>
            </a:extLst>
          </p:cNvPr>
          <p:cNvSpPr/>
          <p:nvPr/>
        </p:nvSpPr>
        <p:spPr>
          <a:xfrm>
            <a:off x="9988137" y="3857237"/>
            <a:ext cx="1145356" cy="255185"/>
          </a:xfrm>
          <a:prstGeom prst="roundRect">
            <a:avLst/>
          </a:prstGeom>
          <a:solidFill>
            <a:srgbClr val="F8BAAE"/>
          </a:solidFill>
          <a:ln w="3175">
            <a:noFil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Arial" panose="020B0604020202020204" pitchFamily="34" charset="0"/>
              </a:rPr>
              <a:t>Insights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14F883-7FB1-18F2-8BA5-002A61C52258}"/>
              </a:ext>
            </a:extLst>
          </p:cNvPr>
          <p:cNvCxnSpPr>
            <a:cxnSpLocks/>
            <a:stCxn id="5" idx="6"/>
            <a:endCxn id="6" idx="1"/>
          </p:cNvCxnSpPr>
          <p:nvPr/>
        </p:nvCxnSpPr>
        <p:spPr>
          <a:xfrm>
            <a:off x="1626828" y="3984829"/>
            <a:ext cx="296754" cy="0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FA2EC5-601F-F85C-7B9F-7588E970BC8A}"/>
              </a:ext>
            </a:extLst>
          </p:cNvPr>
          <p:cNvCxnSpPr>
            <a:cxnSpLocks/>
            <a:stCxn id="6" idx="3"/>
            <a:endCxn id="7" idx="2"/>
          </p:cNvCxnSpPr>
          <p:nvPr/>
        </p:nvCxnSpPr>
        <p:spPr>
          <a:xfrm>
            <a:off x="3068938" y="3984829"/>
            <a:ext cx="296754" cy="1426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616019-6B5D-E4CA-89CE-831D97930D33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 flipV="1">
            <a:off x="4315012" y="3984829"/>
            <a:ext cx="296754" cy="1426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0A38F6E-41B6-AD84-3C05-9C78A6E46AC1}"/>
              </a:ext>
            </a:extLst>
          </p:cNvPr>
          <p:cNvCxnSpPr>
            <a:cxnSpLocks/>
            <a:stCxn id="10" idx="3"/>
            <a:endCxn id="8" idx="2"/>
          </p:cNvCxnSpPr>
          <p:nvPr/>
        </p:nvCxnSpPr>
        <p:spPr>
          <a:xfrm>
            <a:off x="5757122" y="3984829"/>
            <a:ext cx="296754" cy="1426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B8A388E-2ABE-DB84-513E-748927AE2648}"/>
              </a:ext>
            </a:extLst>
          </p:cNvPr>
          <p:cNvCxnSpPr>
            <a:cxnSpLocks/>
            <a:stCxn id="8" idx="6"/>
            <a:endCxn id="11" idx="1"/>
          </p:cNvCxnSpPr>
          <p:nvPr/>
        </p:nvCxnSpPr>
        <p:spPr>
          <a:xfrm flipV="1">
            <a:off x="7003195" y="3984829"/>
            <a:ext cx="296754" cy="1426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3961F99-B922-24DB-7FF2-C5288CD13367}"/>
              </a:ext>
            </a:extLst>
          </p:cNvPr>
          <p:cNvCxnSpPr>
            <a:cxnSpLocks/>
            <a:stCxn id="11" idx="3"/>
            <a:endCxn id="9" idx="2"/>
          </p:cNvCxnSpPr>
          <p:nvPr/>
        </p:nvCxnSpPr>
        <p:spPr>
          <a:xfrm>
            <a:off x="8445305" y="3984829"/>
            <a:ext cx="296754" cy="1426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EB04B44-4DA7-BCE3-D2A8-CF94ABCDB573}"/>
              </a:ext>
            </a:extLst>
          </p:cNvPr>
          <p:cNvCxnSpPr>
            <a:cxnSpLocks/>
            <a:stCxn id="9" idx="6"/>
            <a:endCxn id="12" idx="1"/>
          </p:cNvCxnSpPr>
          <p:nvPr/>
        </p:nvCxnSpPr>
        <p:spPr>
          <a:xfrm flipV="1">
            <a:off x="9691381" y="3984829"/>
            <a:ext cx="296757" cy="1426"/>
          </a:xfrm>
          <a:prstGeom prst="straightConnector1">
            <a:avLst/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427C7A90-7472-5939-AFE5-B19C82D2A987}"/>
              </a:ext>
            </a:extLst>
          </p:cNvPr>
          <p:cNvCxnSpPr>
            <a:stCxn id="12" idx="3"/>
            <a:endCxn id="5" idx="0"/>
          </p:cNvCxnSpPr>
          <p:nvPr/>
        </p:nvCxnSpPr>
        <p:spPr>
          <a:xfrm flipH="1" flipV="1">
            <a:off x="1152168" y="3517542"/>
            <a:ext cx="9981325" cy="467287"/>
          </a:xfrm>
          <a:prstGeom prst="bentConnector4">
            <a:avLst>
              <a:gd name="adj1" fmla="val -3020"/>
              <a:gd name="adj2" fmla="val 163500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689EF22F-3BA5-EF44-9A1B-CE3506C8375F}"/>
              </a:ext>
            </a:extLst>
          </p:cNvPr>
          <p:cNvCxnSpPr>
            <a:cxnSpLocks/>
            <a:stCxn id="12" idx="3"/>
            <a:endCxn id="7" idx="0"/>
          </p:cNvCxnSpPr>
          <p:nvPr/>
        </p:nvCxnSpPr>
        <p:spPr>
          <a:xfrm flipH="1" flipV="1">
            <a:off x="3840351" y="3518968"/>
            <a:ext cx="7293142" cy="465861"/>
          </a:xfrm>
          <a:prstGeom prst="bentConnector4">
            <a:avLst>
              <a:gd name="adj1" fmla="val -4133"/>
              <a:gd name="adj2" fmla="val 163694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924CCFB9-F5A7-1AFE-DDEA-29C44ED7D031}"/>
              </a:ext>
            </a:extLst>
          </p:cNvPr>
          <p:cNvCxnSpPr>
            <a:cxnSpLocks/>
            <a:stCxn id="12" idx="3"/>
            <a:endCxn id="8" idx="0"/>
          </p:cNvCxnSpPr>
          <p:nvPr/>
        </p:nvCxnSpPr>
        <p:spPr>
          <a:xfrm flipH="1" flipV="1">
            <a:off x="6528534" y="3518968"/>
            <a:ext cx="4604959" cy="465861"/>
          </a:xfrm>
          <a:prstGeom prst="bentConnector4">
            <a:avLst>
              <a:gd name="adj1" fmla="val -6545"/>
              <a:gd name="adj2" fmla="val 163694"/>
            </a:avLst>
          </a:prstGeom>
          <a:ln w="6350">
            <a:solidFill>
              <a:schemeClr val="tx1"/>
            </a:solidFill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1AF1DB7-CD90-88EA-562A-70E77CD77F3B}"/>
              </a:ext>
            </a:extLst>
          </p:cNvPr>
          <p:cNvSpPr/>
          <p:nvPr/>
        </p:nvSpPr>
        <p:spPr>
          <a:xfrm>
            <a:off x="3111874" y="3217580"/>
            <a:ext cx="2457450" cy="90011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 prstMaterial="clear"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CA" sz="1800">
                <a:solidFill>
                  <a:schemeClr val="tx1"/>
                </a:solidFill>
                <a:latin typeface="Linik Sans" panose="02000503000000020004" pitchFamily="2" charset="0"/>
                <a:ea typeface="Linik Sans" panose="02000503000000020004" pitchFamily="2" charset="0"/>
              </a:rPr>
              <a:t>Structure</a:t>
            </a:r>
          </a:p>
          <a:p>
            <a:pPr>
              <a:buNone/>
            </a:pPr>
            <a:r>
              <a:rPr lang="en-CA">
                <a:solidFill>
                  <a:schemeClr val="tx1"/>
                </a:solidFill>
                <a:latin typeface="Linik Sans" panose="02000503000000020004" pitchFamily="2" charset="0"/>
                <a:ea typeface="Linik Sans" panose="02000503000000020004" pitchFamily="2" charset="0"/>
              </a:rPr>
              <a:t>(“How work is organized”)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B5F7061-B030-6ACC-3CCD-8E9DCBC51739}"/>
              </a:ext>
            </a:extLst>
          </p:cNvPr>
          <p:cNvSpPr/>
          <p:nvPr/>
        </p:nvSpPr>
        <p:spPr>
          <a:xfrm>
            <a:off x="6559550" y="3178272"/>
            <a:ext cx="2457450" cy="900113"/>
          </a:xfrm>
          <a:prstGeom prst="roundRect">
            <a:avLst/>
          </a:prstGeom>
          <a:solidFill>
            <a:srgbClr val="F9BBAE"/>
          </a:solidFill>
          <a:ln>
            <a:noFill/>
          </a:ln>
          <a:scene3d>
            <a:camera prst="orthographicFront"/>
            <a:lightRig rig="threePt" dir="t"/>
          </a:scene3d>
          <a:sp3d prstMaterial="clear"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CA" sz="160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nik Sans" panose="02000503000000020004" pitchFamily="2" charset="0"/>
                <a:ea typeface="Linik Sans" panose="02000503000000020004" pitchFamily="2" charset="0"/>
                <a:cs typeface="Arial"/>
                <a:sym typeface="Arial"/>
              </a:rPr>
              <a:t>Knowledge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CA" sz="120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nik Sans" panose="02000503000000020004" pitchFamily="2" charset="0"/>
                <a:ea typeface="Linik Sans" panose="02000503000000020004" pitchFamily="2" charset="0"/>
                <a:cs typeface="Arial"/>
                <a:sym typeface="Arial"/>
              </a:rPr>
              <a:t>(“What the team actually thinks, decides &amp; learns”)</a:t>
            </a:r>
          </a:p>
        </p:txBody>
      </p:sp>
      <p:pic>
        <p:nvPicPr>
          <p:cNvPr id="25" name="Graphic 24" descr="Lights On outline">
            <a:extLst>
              <a:ext uri="{FF2B5EF4-FFF2-40B4-BE49-F238E27FC236}">
                <a16:creationId xmlns:a16="http://schemas.microsoft.com/office/drawing/2014/main" id="{E2686A94-D081-5E71-778F-2C537CA92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4300" y="4234180"/>
            <a:ext cx="914400" cy="914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B42158F-F1B0-57BE-7DBC-420DB17425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431" b="94608" l="9735" r="94248">
                        <a14:foregroundMark x1="61504" y1="8824" x2="61504" y2="8824"/>
                        <a14:foregroundMark x1="61504" y1="4412" x2="61504" y2="4412"/>
                        <a14:foregroundMark x1="91593" y1="40196" x2="91593" y2="40196"/>
                        <a14:foregroundMark x1="94690" y1="40196" x2="94690" y2="40196"/>
                        <a14:foregroundMark x1="20796" y1="83824" x2="20796" y2="83824"/>
                        <a14:foregroundMark x1="22566" y1="94608" x2="22566" y2="94608"/>
                        <a14:foregroundMark x1="23009" y1="15686" x2="23009" y2="15686"/>
                        <a14:foregroundMark x1="62832" y1="3431" x2="62832" y2="3431"/>
                        <a14:backgroundMark x1="22124" y1="95588" x2="22124" y2="95588"/>
                        <a14:backgroundMark x1="22124" y1="94608" x2="22124" y2="94608"/>
                        <a14:backgroundMark x1="60177" y1="4902" x2="60177" y2="4902"/>
                        <a14:backgroundMark x1="61062" y1="3922" x2="61062" y2="3922"/>
                        <a14:backgroundMark x1="60619" y1="8824" x2="60619" y2="8824"/>
                      </a14:backgroundRemoval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V="1">
            <a:off x="7398772" y="4157980"/>
            <a:ext cx="779005" cy="85240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5236C4D-E89D-8F33-8EE9-AC29B5E4481C}"/>
              </a:ext>
            </a:extLst>
          </p:cNvPr>
          <p:cNvSpPr txBox="1"/>
          <p:nvPr/>
        </p:nvSpPr>
        <p:spPr>
          <a:xfrm>
            <a:off x="818695" y="1187450"/>
            <a:ext cx="44566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Linik Sans ExtraLight" panose="02000503000000020004" pitchFamily="2" charset="0"/>
                <a:ea typeface="Linik Sans ExtraLight" panose="02000503000000020004" pitchFamily="2" charset="0"/>
              </a:rPr>
              <a:t>Structure + Knowledge = Advantage</a:t>
            </a:r>
            <a:endParaRPr lang="en-US" sz="1800"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  <p:sp>
        <p:nvSpPr>
          <p:cNvPr id="28" name="Chevron 27">
            <a:extLst>
              <a:ext uri="{FF2B5EF4-FFF2-40B4-BE49-F238E27FC236}">
                <a16:creationId xmlns:a16="http://schemas.microsoft.com/office/drawing/2014/main" id="{B77111D1-1146-07BB-ABDF-C2890483F253}"/>
              </a:ext>
            </a:extLst>
          </p:cNvPr>
          <p:cNvSpPr/>
          <p:nvPr/>
        </p:nvSpPr>
        <p:spPr>
          <a:xfrm>
            <a:off x="1093304" y="1760220"/>
            <a:ext cx="5536096" cy="419100"/>
          </a:xfrm>
          <a:prstGeom prst="chevr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 prstMaterial="clear"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Linik Sans" panose="02000503000000020004" pitchFamily="2" charset="0"/>
                <a:ea typeface="Linik Sans" panose="02000503000000020004" pitchFamily="2" charset="0"/>
              </a:rPr>
              <a:t>Goals</a:t>
            </a:r>
          </a:p>
        </p:txBody>
      </p:sp>
      <p:sp>
        <p:nvSpPr>
          <p:cNvPr id="29" name="Chevron 28">
            <a:extLst>
              <a:ext uri="{FF2B5EF4-FFF2-40B4-BE49-F238E27FC236}">
                <a16:creationId xmlns:a16="http://schemas.microsoft.com/office/drawing/2014/main" id="{E2868143-1D03-7692-08D2-2183724957C7}"/>
              </a:ext>
            </a:extLst>
          </p:cNvPr>
          <p:cNvSpPr/>
          <p:nvPr/>
        </p:nvSpPr>
        <p:spPr>
          <a:xfrm>
            <a:off x="3602355" y="2219325"/>
            <a:ext cx="5536096" cy="419100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 prstMaterial="clear"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Linik Sans" panose="02000503000000020004" pitchFamily="2" charset="0"/>
                <a:ea typeface="Linik Sans" panose="02000503000000020004" pitchFamily="2" charset="0"/>
              </a:rPr>
              <a:t>Roles</a:t>
            </a:r>
          </a:p>
        </p:txBody>
      </p:sp>
      <p:sp>
        <p:nvSpPr>
          <p:cNvPr id="30" name="Chevron 29">
            <a:extLst>
              <a:ext uri="{FF2B5EF4-FFF2-40B4-BE49-F238E27FC236}">
                <a16:creationId xmlns:a16="http://schemas.microsoft.com/office/drawing/2014/main" id="{8CA51020-D883-AE36-2DBE-5281D2F94B2C}"/>
              </a:ext>
            </a:extLst>
          </p:cNvPr>
          <p:cNvSpPr/>
          <p:nvPr/>
        </p:nvSpPr>
        <p:spPr>
          <a:xfrm>
            <a:off x="6065520" y="2678430"/>
            <a:ext cx="5536096" cy="419100"/>
          </a:xfrm>
          <a:prstGeom prst="chevr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 prstMaterial="clear"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Linik Sans" panose="02000503000000020004" pitchFamily="2" charset="0"/>
                <a:ea typeface="Linik Sans" panose="02000503000000020004" pitchFamily="2" charset="0"/>
              </a:rPr>
              <a:t>Results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CBB5590-DF31-72A5-FDE9-5439DFFDA7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2476" y="407773"/>
            <a:ext cx="1856563" cy="3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88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85185E-6 L 0.0013 0.23055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11528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1.11111E-6 L 0.00091 0.22315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11157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7037E-6 L 0.00013 0.21852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926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-2.96296E-6 L 0.00091 0.22778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1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3" grpId="0" animBg="1"/>
      <p:bldP spid="23" grpId="1" animBg="1"/>
      <p:bldP spid="24" grpId="0" animBg="1"/>
      <p:bldP spid="24" grpId="1" animBg="1"/>
      <p:bldP spid="27" grpId="0"/>
      <p:bldP spid="28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3C4D7-A7BB-63B5-CB5A-110EA411F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973AB07-A5E8-A481-8D76-E0A1F2A438E1}"/>
              </a:ext>
            </a:extLst>
          </p:cNvPr>
          <p:cNvSpPr/>
          <p:nvPr/>
        </p:nvSpPr>
        <p:spPr>
          <a:xfrm>
            <a:off x="9916886" y="228600"/>
            <a:ext cx="2090057" cy="566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9EBCE4-A030-4B10-E41D-B42D8F0D5E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Linik Sans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D132434-C05B-4485-B709-133F74125B97}"/>
              </a:ext>
            </a:extLst>
          </p:cNvPr>
          <p:cNvSpPr/>
          <p:nvPr/>
        </p:nvSpPr>
        <p:spPr>
          <a:xfrm>
            <a:off x="1443454" y="1646686"/>
            <a:ext cx="9930384" cy="4561016"/>
          </a:xfrm>
          <a:prstGeom prst="roundRect">
            <a:avLst>
              <a:gd name="adj" fmla="val 1124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EB369-981B-C6C7-B6DA-EB9871CEDE68}"/>
              </a:ext>
            </a:extLst>
          </p:cNvPr>
          <p:cNvSpPr txBox="1"/>
          <p:nvPr/>
        </p:nvSpPr>
        <p:spPr>
          <a:xfrm>
            <a:off x="4398388" y="5340502"/>
            <a:ext cx="4684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Powered by GI (Goalytics Intelligence)</a:t>
            </a:r>
            <a:endParaRPr lang="en-US">
              <a:solidFill>
                <a:schemeClr val="tx1"/>
              </a:solidFill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8958C-2195-EB78-AC5E-3C3AEBD11FF6}"/>
              </a:ext>
            </a:extLst>
          </p:cNvPr>
          <p:cNvSpPr txBox="1"/>
          <p:nvPr/>
        </p:nvSpPr>
        <p:spPr>
          <a:xfrm>
            <a:off x="829252" y="680275"/>
            <a:ext cx="250100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>
                <a:latin typeface="Linik Sans ExtraLight" panose="02000503000000020004" pitchFamily="2" charset="0"/>
                <a:ea typeface="Linik Sans ExtraLight" panose="02000503000000020004" pitchFamily="2" charset="0"/>
              </a:rPr>
              <a:t>Key Features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EF1AB-A539-EDBB-B77C-31E6501580FA}"/>
              </a:ext>
            </a:extLst>
          </p:cNvPr>
          <p:cNvSpPr txBox="1"/>
          <p:nvPr/>
        </p:nvSpPr>
        <p:spPr>
          <a:xfrm>
            <a:off x="849375" y="1187450"/>
            <a:ext cx="22028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Linik Sans ExtraLight" panose="02000503000000020004" pitchFamily="2" charset="0"/>
                <a:ea typeface="Linik Sans ExtraLight" panose="02000503000000020004" pitchFamily="2" charset="0"/>
              </a:rPr>
              <a:t>What We’ll Demo</a:t>
            </a:r>
            <a:endParaRPr lang="en-US" sz="1800"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3111D6D-48B9-91D2-1AF4-9AD2BCB4C8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654" r="80703" b="-1"/>
          <a:stretch>
            <a:fillRect/>
          </a:stretch>
        </p:blipFill>
        <p:spPr>
          <a:xfrm>
            <a:off x="3764427" y="5170366"/>
            <a:ext cx="609968" cy="85988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B2A557E-81B3-9D3F-881B-6AD4AC121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2476" y="407773"/>
            <a:ext cx="1856563" cy="37918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7FD8ED3-9FC5-887F-C0D9-87DD7FDFF48E}"/>
              </a:ext>
            </a:extLst>
          </p:cNvPr>
          <p:cNvGrpSpPr/>
          <p:nvPr/>
        </p:nvGrpSpPr>
        <p:grpSpPr>
          <a:xfrm>
            <a:off x="2426040" y="3347500"/>
            <a:ext cx="2086536" cy="1145275"/>
            <a:chOff x="2426040" y="3414735"/>
            <a:chExt cx="2086536" cy="1145275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BDD46542-CD13-D22C-0C37-E98C44989EFE}"/>
                </a:ext>
              </a:extLst>
            </p:cNvPr>
            <p:cNvSpPr/>
            <p:nvPr/>
          </p:nvSpPr>
          <p:spPr>
            <a:xfrm>
              <a:off x="3002265" y="3746574"/>
              <a:ext cx="791880" cy="607532"/>
            </a:xfrm>
            <a:prstGeom prst="roundRect">
              <a:avLst/>
            </a:prstGeom>
            <a:gradFill>
              <a:gsLst>
                <a:gs pos="3000">
                  <a:schemeClr val="accent4"/>
                </a:gs>
                <a:gs pos="100000">
                  <a:srgbClr val="31C3FC">
                    <a:alpha val="28000"/>
                  </a:srgbClr>
                </a:gs>
              </a:gsLst>
              <a:lin ang="10800000" scaled="0"/>
            </a:gradFill>
            <a:ln w="3175"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 sz="900" spc="-34">
                <a:solidFill>
                  <a:sysClr val="windowText" lastClr="000000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10" name="Graphic 9" descr="Management outline">
              <a:extLst>
                <a:ext uri="{FF2B5EF4-FFF2-40B4-BE49-F238E27FC236}">
                  <a16:creationId xmlns:a16="http://schemas.microsoft.com/office/drawing/2014/main" id="{128815B5-3E6F-8016-C959-8B08A7C91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42696" y="3724096"/>
              <a:ext cx="786771" cy="83591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5FFE101-F3F9-1A1F-6AB7-C969833E424E}"/>
                </a:ext>
              </a:extLst>
            </p:cNvPr>
            <p:cNvSpPr txBox="1"/>
            <p:nvPr/>
          </p:nvSpPr>
          <p:spPr>
            <a:xfrm>
              <a:off x="2426040" y="3414735"/>
              <a:ext cx="2086536" cy="2539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CA" sz="1050">
                  <a:solidFill>
                    <a:srgbClr val="0B0B0A"/>
                  </a:solidFill>
                  <a:latin typeface="Linik Sans Light" panose="02000503000000020004" pitchFamily="2" charset="0"/>
                  <a:ea typeface="Linik Sans Light" panose="02000503000000020004" pitchFamily="2" charset="0"/>
                </a:rPr>
                <a:t>Configure org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567C70-3DA7-BDF9-9295-169AA0347903}"/>
              </a:ext>
            </a:extLst>
          </p:cNvPr>
          <p:cNvGrpSpPr/>
          <p:nvPr/>
        </p:nvGrpSpPr>
        <p:grpSpPr>
          <a:xfrm>
            <a:off x="5278478" y="3402106"/>
            <a:ext cx="2086536" cy="1157821"/>
            <a:chOff x="3853091" y="3394654"/>
            <a:chExt cx="2086536" cy="1157821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68E4A303-134E-AB2E-61E9-D6FCFF010DF3}"/>
                </a:ext>
              </a:extLst>
            </p:cNvPr>
            <p:cNvSpPr/>
            <p:nvPr/>
          </p:nvSpPr>
          <p:spPr>
            <a:xfrm>
              <a:off x="4404509" y="3746574"/>
              <a:ext cx="791880" cy="607532"/>
            </a:xfrm>
            <a:prstGeom prst="roundRect">
              <a:avLst/>
            </a:prstGeom>
            <a:gradFill>
              <a:gsLst>
                <a:gs pos="2000">
                  <a:schemeClr val="accent2">
                    <a:alpha val="88226"/>
                  </a:schemeClr>
                </a:gs>
                <a:gs pos="100000">
                  <a:schemeClr val="accent4"/>
                </a:gs>
              </a:gsLst>
              <a:lin ang="10800000" scaled="0"/>
            </a:gradFill>
            <a:ln w="3175"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 sz="900" spc="-34">
                <a:solidFill>
                  <a:sysClr val="windowText" lastClr="000000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6" name="Graphic 5" descr="Flowchart outline">
              <a:extLst>
                <a:ext uri="{FF2B5EF4-FFF2-40B4-BE49-F238E27FC236}">
                  <a16:creationId xmlns:a16="http://schemas.microsoft.com/office/drawing/2014/main" id="{E857FEF8-CA22-CECE-9993-4D9D35DEE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6200000">
              <a:off x="4686450" y="3777681"/>
              <a:ext cx="798258" cy="75132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A497D0-E9D3-F5E6-3708-C9714B0FE6E1}"/>
                </a:ext>
              </a:extLst>
            </p:cNvPr>
            <p:cNvSpPr txBox="1"/>
            <p:nvPr/>
          </p:nvSpPr>
          <p:spPr>
            <a:xfrm>
              <a:off x="3853091" y="3394654"/>
              <a:ext cx="2086536" cy="2539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CA" sz="1050">
                  <a:solidFill>
                    <a:srgbClr val="0B0B0A"/>
                  </a:solidFill>
                  <a:latin typeface="Linik Sans Light" panose="02000503000000020004" pitchFamily="2" charset="0"/>
                  <a:ea typeface="Linik Sans Light" panose="02000503000000020004" pitchFamily="2" charset="0"/>
                </a:rPr>
                <a:t>Design OKRs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10DA423-6116-DC3D-965E-B4721684EBF7}"/>
              </a:ext>
            </a:extLst>
          </p:cNvPr>
          <p:cNvGrpSpPr/>
          <p:nvPr/>
        </p:nvGrpSpPr>
        <p:grpSpPr>
          <a:xfrm>
            <a:off x="6734421" y="3376185"/>
            <a:ext cx="2086536" cy="1215558"/>
            <a:chOff x="6734421" y="3389632"/>
            <a:chExt cx="2086536" cy="1215558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AA6558-366E-1CD4-5B63-08A983672D15}"/>
                </a:ext>
              </a:extLst>
            </p:cNvPr>
            <p:cNvSpPr txBox="1"/>
            <p:nvPr/>
          </p:nvSpPr>
          <p:spPr>
            <a:xfrm>
              <a:off x="6734421" y="3389632"/>
              <a:ext cx="2086536" cy="2539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CA" sz="1050">
                  <a:solidFill>
                    <a:srgbClr val="0B0B0A"/>
                  </a:solidFill>
                  <a:latin typeface="Linik Sans Light" panose="02000503000000020004" pitchFamily="2" charset="0"/>
                  <a:ea typeface="Linik Sans Light" panose="02000503000000020004" pitchFamily="2" charset="0"/>
                </a:rPr>
                <a:t>Report results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93FC6C95-A83A-A5AB-44C0-AEFBC81F27DB}"/>
                </a:ext>
              </a:extLst>
            </p:cNvPr>
            <p:cNvSpPr/>
            <p:nvPr/>
          </p:nvSpPr>
          <p:spPr>
            <a:xfrm>
              <a:off x="7208997" y="3746574"/>
              <a:ext cx="791880" cy="607532"/>
            </a:xfrm>
            <a:prstGeom prst="roundRect">
              <a:avLst/>
            </a:prstGeom>
            <a:gradFill>
              <a:gsLst>
                <a:gs pos="100000">
                  <a:schemeClr val="accent5"/>
                </a:gs>
                <a:gs pos="0">
                  <a:schemeClr val="accent6"/>
                </a:gs>
              </a:gsLst>
              <a:lin ang="10800000" scaled="0"/>
            </a:gradFill>
            <a:ln w="3175"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 sz="900" spc="-34">
                <a:solidFill>
                  <a:sysClr val="windowText" lastClr="000000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24" name="Graphic 23" descr="Presentation with pie chart outline">
              <a:extLst>
                <a:ext uri="{FF2B5EF4-FFF2-40B4-BE49-F238E27FC236}">
                  <a16:creationId xmlns:a16="http://schemas.microsoft.com/office/drawing/2014/main" id="{89EC5786-EB0F-3931-A24C-4B41CD4E4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438794" y="3739156"/>
              <a:ext cx="815120" cy="866034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E724811-67AC-5537-32CC-CFCA08C708AC}"/>
              </a:ext>
            </a:extLst>
          </p:cNvPr>
          <p:cNvGrpSpPr/>
          <p:nvPr/>
        </p:nvGrpSpPr>
        <p:grpSpPr>
          <a:xfrm>
            <a:off x="8048064" y="3386226"/>
            <a:ext cx="2086536" cy="1077495"/>
            <a:chOff x="8048064" y="3399673"/>
            <a:chExt cx="2086536" cy="1077495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6F41FE9-C117-CDDD-5CEB-4C70E8ADEDD8}"/>
                </a:ext>
              </a:extLst>
            </p:cNvPr>
            <p:cNvSpPr txBox="1"/>
            <p:nvPr/>
          </p:nvSpPr>
          <p:spPr>
            <a:xfrm>
              <a:off x="8048064" y="3399673"/>
              <a:ext cx="2086536" cy="2539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CA" sz="1050">
                  <a:solidFill>
                    <a:srgbClr val="0B0B0A"/>
                  </a:solidFill>
                  <a:latin typeface="Linik Sans Light" panose="02000503000000020004" pitchFamily="2" charset="0"/>
                  <a:ea typeface="Linik Sans Light" panose="02000503000000020004" pitchFamily="2" charset="0"/>
                </a:rPr>
                <a:t>Analyze insights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1E99355A-2156-6B6F-6D30-1B37E2E86BDC}"/>
                </a:ext>
              </a:extLst>
            </p:cNvPr>
            <p:cNvSpPr/>
            <p:nvPr/>
          </p:nvSpPr>
          <p:spPr>
            <a:xfrm>
              <a:off x="8611240" y="3746574"/>
              <a:ext cx="791880" cy="607532"/>
            </a:xfrm>
            <a:prstGeom prst="roundRect">
              <a:avLst/>
            </a:prstGeom>
            <a:gradFill>
              <a:gsLst>
                <a:gs pos="0">
                  <a:schemeClr val="accent4"/>
                </a:gs>
                <a:gs pos="100000">
                  <a:schemeClr val="accent6"/>
                </a:gs>
              </a:gsLst>
              <a:lin ang="10800000" scaled="0"/>
            </a:gradFill>
            <a:ln w="3175"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 sz="900" spc="-34">
                <a:solidFill>
                  <a:sysClr val="windowText" lastClr="000000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Arial" panose="020B0604020202020204" pitchFamily="34" charset="0"/>
              </a:endParaRPr>
            </a:p>
          </p:txBody>
        </p:sp>
        <p:pic>
          <p:nvPicPr>
            <p:cNvPr id="27" name="Graphic 26" descr="Lights On outline">
              <a:extLst>
                <a:ext uri="{FF2B5EF4-FFF2-40B4-BE49-F238E27FC236}">
                  <a16:creationId xmlns:a16="http://schemas.microsoft.com/office/drawing/2014/main" id="{BC5CF8AD-E741-9121-E1BC-E3729ECB5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962717" y="3799402"/>
              <a:ext cx="637920" cy="677766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F99544A-D2D5-AB16-6F24-B96A6E648596}"/>
              </a:ext>
            </a:extLst>
          </p:cNvPr>
          <p:cNvGrpSpPr/>
          <p:nvPr/>
        </p:nvGrpSpPr>
        <p:grpSpPr>
          <a:xfrm>
            <a:off x="3782919" y="3361764"/>
            <a:ext cx="2086536" cy="1147782"/>
            <a:chOff x="5213637" y="3374571"/>
            <a:chExt cx="2086536" cy="1147782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5EB35C4-9465-F36E-4A13-817099097A32}"/>
                </a:ext>
              </a:extLst>
            </p:cNvPr>
            <p:cNvSpPr/>
            <p:nvPr/>
          </p:nvSpPr>
          <p:spPr>
            <a:xfrm>
              <a:off x="5806753" y="3746574"/>
              <a:ext cx="791880" cy="607532"/>
            </a:xfrm>
            <a:prstGeom prst="roundRect">
              <a:avLst/>
            </a:prstGeom>
            <a:gradFill>
              <a:gsLst>
                <a:gs pos="100000">
                  <a:schemeClr val="accent2">
                    <a:alpha val="88226"/>
                  </a:schemeClr>
                </a:gs>
                <a:gs pos="0">
                  <a:schemeClr val="accent5"/>
                </a:gs>
              </a:gsLst>
              <a:lin ang="10800000" scaled="0"/>
            </a:gradFill>
            <a:ln w="3175">
              <a:noFill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endParaRPr lang="en-US" sz="900" spc="-34">
                <a:solidFill>
                  <a:sysClr val="windowText" lastClr="000000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DCC0B5B-7924-050D-DF68-AFD7CB7798F8}"/>
                </a:ext>
              </a:extLst>
            </p:cNvPr>
            <p:cNvSpPr txBox="1"/>
            <p:nvPr/>
          </p:nvSpPr>
          <p:spPr>
            <a:xfrm>
              <a:off x="5213637" y="3374571"/>
              <a:ext cx="2086536" cy="2539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CA" sz="1050">
                  <a:solidFill>
                    <a:srgbClr val="0B0B0A"/>
                  </a:solidFill>
                  <a:latin typeface="Linik Sans Light" panose="02000503000000020004" pitchFamily="2" charset="0"/>
                  <a:ea typeface="Linik Sans Light" panose="02000503000000020004" pitchFamily="2" charset="0"/>
                </a:rPr>
                <a:t>Set goals</a:t>
              </a:r>
            </a:p>
          </p:txBody>
        </p:sp>
        <p:pic>
          <p:nvPicPr>
            <p:cNvPr id="28" name="Graphic 27" descr="Settings outline">
              <a:extLst>
                <a:ext uri="{FF2B5EF4-FFF2-40B4-BE49-F238E27FC236}">
                  <a16:creationId xmlns:a16="http://schemas.microsoft.com/office/drawing/2014/main" id="{EA68D5D4-3679-735D-A1F3-9063036CF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063725" y="3799402"/>
              <a:ext cx="680449" cy="722951"/>
            </a:xfrm>
            <a:prstGeom prst="rect">
              <a:avLst/>
            </a:prstGeom>
          </p:spPr>
        </p:pic>
      </p:grpSp>
      <p:sp>
        <p:nvSpPr>
          <p:cNvPr id="29" name="Triangle 28">
            <a:extLst>
              <a:ext uri="{FF2B5EF4-FFF2-40B4-BE49-F238E27FC236}">
                <a16:creationId xmlns:a16="http://schemas.microsoft.com/office/drawing/2014/main" id="{7EA58D60-9722-71C1-55DD-369236F291EF}"/>
              </a:ext>
            </a:extLst>
          </p:cNvPr>
          <p:cNvSpPr/>
          <p:nvPr/>
        </p:nvSpPr>
        <p:spPr>
          <a:xfrm rot="5400000">
            <a:off x="3871769" y="3928747"/>
            <a:ext cx="542213" cy="283521"/>
          </a:xfrm>
          <a:prstGeom prst="triangle">
            <a:avLst/>
          </a:prstGeom>
          <a:solidFill>
            <a:srgbClr val="1E3C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656FE558-20CE-0E7C-9E65-6989A02F767A}"/>
              </a:ext>
            </a:extLst>
          </p:cNvPr>
          <p:cNvSpPr/>
          <p:nvPr/>
        </p:nvSpPr>
        <p:spPr>
          <a:xfrm rot="5400000">
            <a:off x="5312996" y="3953851"/>
            <a:ext cx="542213" cy="283521"/>
          </a:xfrm>
          <a:prstGeom prst="triangle">
            <a:avLst/>
          </a:prstGeom>
          <a:solidFill>
            <a:srgbClr val="1E3C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31" name="Triangle 30">
            <a:extLst>
              <a:ext uri="{FF2B5EF4-FFF2-40B4-BE49-F238E27FC236}">
                <a16:creationId xmlns:a16="http://schemas.microsoft.com/office/drawing/2014/main" id="{8AEC8CEF-563C-CD63-4036-E47FCA3F0DE5}"/>
              </a:ext>
            </a:extLst>
          </p:cNvPr>
          <p:cNvSpPr/>
          <p:nvPr/>
        </p:nvSpPr>
        <p:spPr>
          <a:xfrm rot="5400000">
            <a:off x="6740047" y="3948832"/>
            <a:ext cx="542213" cy="283521"/>
          </a:xfrm>
          <a:prstGeom prst="triangle">
            <a:avLst/>
          </a:prstGeom>
          <a:solidFill>
            <a:srgbClr val="1E3C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31A8FC4D-EC61-436C-5310-9216F5DC81AE}"/>
              </a:ext>
            </a:extLst>
          </p:cNvPr>
          <p:cNvSpPr/>
          <p:nvPr/>
        </p:nvSpPr>
        <p:spPr>
          <a:xfrm rot="5400000">
            <a:off x="8096219" y="3988998"/>
            <a:ext cx="542213" cy="283521"/>
          </a:xfrm>
          <a:prstGeom prst="triangle">
            <a:avLst/>
          </a:prstGeom>
          <a:solidFill>
            <a:srgbClr val="1E3C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1E7F07D-E710-45C4-A69D-924C7FC1D93D}"/>
              </a:ext>
            </a:extLst>
          </p:cNvPr>
          <p:cNvSpPr/>
          <p:nvPr/>
        </p:nvSpPr>
        <p:spPr>
          <a:xfrm>
            <a:off x="2861535" y="2891117"/>
            <a:ext cx="1484812" cy="1901105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37786A5-A932-5ABA-60B8-1230319BBFBD}"/>
              </a:ext>
            </a:extLst>
          </p:cNvPr>
          <p:cNvSpPr/>
          <p:nvPr/>
        </p:nvSpPr>
        <p:spPr>
          <a:xfrm>
            <a:off x="4353516" y="3200400"/>
            <a:ext cx="1484812" cy="2177143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FFD1D12-5832-3762-81D9-75051F5C0304}"/>
              </a:ext>
            </a:extLst>
          </p:cNvPr>
          <p:cNvSpPr/>
          <p:nvPr/>
        </p:nvSpPr>
        <p:spPr>
          <a:xfrm>
            <a:off x="5817975" y="3424457"/>
            <a:ext cx="1393372" cy="1419880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3F47C753-DC4D-0784-D792-65F84C029978}"/>
              </a:ext>
            </a:extLst>
          </p:cNvPr>
          <p:cNvSpPr/>
          <p:nvPr/>
        </p:nvSpPr>
        <p:spPr>
          <a:xfrm>
            <a:off x="7172914" y="3327851"/>
            <a:ext cx="1365967" cy="1363223"/>
          </a:xfrm>
          <a:prstGeom prst="roundRect">
            <a:avLst/>
          </a:prstGeom>
          <a:solidFill>
            <a:srgbClr val="FFFFFF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81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  <p:bldP spid="9" grpId="0"/>
      <p:bldP spid="29" grpId="0" animBg="1"/>
      <p:bldP spid="30" grpId="0" animBg="1"/>
      <p:bldP spid="31" grpId="0" animBg="1"/>
      <p:bldP spid="32" grpId="0" animBg="1"/>
      <p:bldP spid="4" grpId="1" animBg="1"/>
      <p:bldP spid="4" grpId="2" animBg="1"/>
      <p:bldP spid="38" grpId="1" animBg="1"/>
      <p:bldP spid="38" grpId="2" animBg="1"/>
      <p:bldP spid="40" grpId="1" animBg="1"/>
      <p:bldP spid="40" grpId="2" animBg="1"/>
      <p:bldP spid="41" grpId="1" animBg="1"/>
      <p:bldP spid="41" grpId="2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D8671C-4DE9-7879-C46F-BF7DF5A92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686" y="2471950"/>
            <a:ext cx="3153276" cy="206800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CC11A2-46D8-AE79-CC02-693852DE71B9}"/>
              </a:ext>
            </a:extLst>
          </p:cNvPr>
          <p:cNvSpPr/>
          <p:nvPr/>
        </p:nvSpPr>
        <p:spPr>
          <a:xfrm>
            <a:off x="2868195" y="3162818"/>
            <a:ext cx="705852" cy="753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1DFBA-38DB-79FB-6356-7D20B1209C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33" t="31468" r="46582" b="28969"/>
          <a:stretch>
            <a:fillRect/>
          </a:stretch>
        </p:blipFill>
        <p:spPr>
          <a:xfrm rot="237310">
            <a:off x="2804026" y="3114691"/>
            <a:ext cx="705853" cy="8181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A6A2E1-49FE-5C04-29AA-BA9F003B36CD}"/>
              </a:ext>
            </a:extLst>
          </p:cNvPr>
          <p:cNvSpPr txBox="1"/>
          <p:nvPr/>
        </p:nvSpPr>
        <p:spPr>
          <a:xfrm>
            <a:off x="5472953" y="2497976"/>
            <a:ext cx="431560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>
                <a:latin typeface="Linik Sans Medium" panose="02000503000000020004" pitchFamily="2" charset="0"/>
                <a:ea typeface="Linik Sans Medium" panose="02000503000000020004" pitchFamily="2" charset="0"/>
              </a:rPr>
              <a:t>Demo</a:t>
            </a:r>
            <a:endParaRPr lang="en-US">
              <a:latin typeface="Linik Sans Medium" panose="02000503000000020004" pitchFamily="2" charset="0"/>
              <a:ea typeface="Linik Sans Medium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1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F0A2BFC-7160-9E44-0899-FCF634BD6655}"/>
              </a:ext>
            </a:extLst>
          </p:cNvPr>
          <p:cNvSpPr/>
          <p:nvPr/>
        </p:nvSpPr>
        <p:spPr>
          <a:xfrm>
            <a:off x="9226292" y="1587364"/>
            <a:ext cx="2134896" cy="4541233"/>
          </a:xfrm>
          <a:prstGeom prst="roundRect">
            <a:avLst/>
          </a:prstGeom>
          <a:solidFill>
            <a:srgbClr val="7D9FC5">
              <a:alpha val="2973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0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FB28AD9-6443-8520-3AA4-D59880F82618}"/>
              </a:ext>
            </a:extLst>
          </p:cNvPr>
          <p:cNvSpPr/>
          <p:nvPr/>
        </p:nvSpPr>
        <p:spPr>
          <a:xfrm>
            <a:off x="7099304" y="1570733"/>
            <a:ext cx="2134896" cy="4541233"/>
          </a:xfrm>
          <a:prstGeom prst="roundRect">
            <a:avLst/>
          </a:prstGeom>
          <a:solidFill>
            <a:schemeClr val="bg1">
              <a:lumMod val="85000"/>
              <a:alpha val="50299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0" dirty="0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D2797BE-9E3A-7ED6-079E-74A24D085056}"/>
              </a:ext>
            </a:extLst>
          </p:cNvPr>
          <p:cNvSpPr/>
          <p:nvPr/>
        </p:nvSpPr>
        <p:spPr>
          <a:xfrm>
            <a:off x="2822733" y="1598309"/>
            <a:ext cx="2134896" cy="4541233"/>
          </a:xfrm>
          <a:prstGeom prst="roundRect">
            <a:avLst/>
          </a:prstGeom>
          <a:solidFill>
            <a:schemeClr val="bg1">
              <a:lumMod val="85000"/>
              <a:alpha val="50299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0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62ED4-364B-CB65-4500-D38207F046FE}"/>
              </a:ext>
            </a:extLst>
          </p:cNvPr>
          <p:cNvSpPr txBox="1"/>
          <p:nvPr/>
        </p:nvSpPr>
        <p:spPr>
          <a:xfrm>
            <a:off x="3574369" y="1943468"/>
            <a:ext cx="783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40"/>
              </a:spcAft>
            </a:pPr>
            <a:r>
              <a:rPr lang="en-US" dirty="0">
                <a:latin typeface="Linik Sans Light" panose="02000503000000020004" pitchFamily="2" charset="0"/>
                <a:ea typeface="Linik Sans Light" panose="02000503000000020004" pitchFamily="2" charset="0"/>
                <a:cs typeface="Helvetica Neue" panose="02000503000000020004" pitchFamily="2" charset="0"/>
              </a:rPr>
              <a:t>1.0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BF42CBE-C05F-4459-401D-8E7BF15AF926}"/>
              </a:ext>
            </a:extLst>
          </p:cNvPr>
          <p:cNvSpPr/>
          <p:nvPr/>
        </p:nvSpPr>
        <p:spPr>
          <a:xfrm>
            <a:off x="914118" y="3504535"/>
            <a:ext cx="10645447" cy="60007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4342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0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80DF75F-4044-6FC1-44C6-4972D1421479}"/>
              </a:ext>
            </a:extLst>
          </p:cNvPr>
          <p:cNvSpPr/>
          <p:nvPr/>
        </p:nvSpPr>
        <p:spPr>
          <a:xfrm>
            <a:off x="4964408" y="1587366"/>
            <a:ext cx="2134896" cy="4541233"/>
          </a:xfrm>
          <a:prstGeom prst="roundRect">
            <a:avLst/>
          </a:prstGeom>
          <a:solidFill>
            <a:srgbClr val="7D9FC5">
              <a:alpha val="2973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0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8D55ABF-9122-9D8B-09F7-7EB58454FD2E}"/>
              </a:ext>
            </a:extLst>
          </p:cNvPr>
          <p:cNvSpPr/>
          <p:nvPr/>
        </p:nvSpPr>
        <p:spPr>
          <a:xfrm>
            <a:off x="914119" y="2902551"/>
            <a:ext cx="10645447" cy="600075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4342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0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5D2FB41-552B-3AEE-FAFC-1540AEAC5E49}"/>
              </a:ext>
            </a:extLst>
          </p:cNvPr>
          <p:cNvSpPr/>
          <p:nvPr/>
        </p:nvSpPr>
        <p:spPr>
          <a:xfrm>
            <a:off x="908399" y="4114138"/>
            <a:ext cx="10642908" cy="584802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4342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0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914B3C-B671-89B6-0372-9C55F218D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587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Linik Sans ExtraLight" panose="02000503000000020004" pitchFamily="2" charset="0"/>
                <a:ea typeface="Linik Sans ExtraLight" panose="02000503000000020004" pitchFamily="2" charset="0"/>
              </a:rPr>
              <a:t>Roadmap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95C3A5-283F-1BB0-03E1-4C4915F7FF4C}"/>
              </a:ext>
            </a:extLst>
          </p:cNvPr>
          <p:cNvSpPr txBox="1"/>
          <p:nvPr/>
        </p:nvSpPr>
        <p:spPr>
          <a:xfrm>
            <a:off x="1024435" y="3096982"/>
            <a:ext cx="1833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40"/>
              </a:spcAft>
            </a:pPr>
            <a:r>
              <a:rPr lang="en-US" dirty="0">
                <a:latin typeface="Linik Sans Light" panose="02000503000000020004" pitchFamily="2" charset="0"/>
                <a:ea typeface="Linik Sans Light" panose="02000503000000020004" pitchFamily="2" charset="0"/>
                <a:cs typeface="Helvetica Neue" panose="02000503000000020004" pitchFamily="2" charset="0"/>
              </a:rPr>
              <a:t>OKR Builder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2C480A-1589-3271-1BEE-645AA6EF91AE}"/>
              </a:ext>
            </a:extLst>
          </p:cNvPr>
          <p:cNvSpPr txBox="1"/>
          <p:nvPr/>
        </p:nvSpPr>
        <p:spPr>
          <a:xfrm>
            <a:off x="1013451" y="3678630"/>
            <a:ext cx="1833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40"/>
              </a:spcAft>
            </a:pPr>
            <a:r>
              <a:rPr lang="en-US" dirty="0">
                <a:latin typeface="Linik Sans Light" panose="02000503000000020004" pitchFamily="2" charset="0"/>
                <a:ea typeface="Linik Sans Light" panose="02000503000000020004" pitchFamily="2" charset="0"/>
                <a:cs typeface="Helvetica Neue" panose="02000503000000020004" pitchFamily="2" charset="0"/>
              </a:rPr>
              <a:t>Flows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1D9F36-05F1-B3F4-9C2A-3AC6F589E17D}"/>
              </a:ext>
            </a:extLst>
          </p:cNvPr>
          <p:cNvSpPr txBox="1"/>
          <p:nvPr/>
        </p:nvSpPr>
        <p:spPr>
          <a:xfrm>
            <a:off x="7870892" y="1941800"/>
            <a:ext cx="762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40"/>
              </a:spcAft>
            </a:pPr>
            <a:r>
              <a:rPr lang="en-US" dirty="0">
                <a:latin typeface="Linik Sans Light" panose="02000503000000020004" pitchFamily="2" charset="0"/>
                <a:ea typeface="Linik Sans Light" panose="02000503000000020004" pitchFamily="2" charset="0"/>
                <a:cs typeface="Helvetica Neue" panose="02000503000000020004" pitchFamily="2" charset="0"/>
              </a:rPr>
              <a:t>3.0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647572-9765-B173-9305-83BB41193760}"/>
              </a:ext>
            </a:extLst>
          </p:cNvPr>
          <p:cNvSpPr txBox="1"/>
          <p:nvPr/>
        </p:nvSpPr>
        <p:spPr>
          <a:xfrm>
            <a:off x="5775672" y="1871360"/>
            <a:ext cx="886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40"/>
              </a:spcAft>
            </a:pPr>
            <a:r>
              <a:rPr lang="en-US" dirty="0">
                <a:latin typeface="Linik Sans Light" panose="02000503000000020004" pitchFamily="2" charset="0"/>
                <a:ea typeface="Linik Sans Light" panose="02000503000000020004" pitchFamily="2" charset="0"/>
                <a:cs typeface="Helvetica Neue" panose="02000503000000020004" pitchFamily="2" charset="0"/>
              </a:rPr>
              <a:t>2.0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8BF05D-5118-A309-8AC3-494769BF4B60}"/>
              </a:ext>
            </a:extLst>
          </p:cNvPr>
          <p:cNvSpPr txBox="1"/>
          <p:nvPr/>
        </p:nvSpPr>
        <p:spPr>
          <a:xfrm>
            <a:off x="10078963" y="1943871"/>
            <a:ext cx="6563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40"/>
              </a:spcAft>
            </a:pPr>
            <a:r>
              <a:rPr lang="en-US" dirty="0">
                <a:latin typeface="Linik Sans Light" panose="02000503000000020004" pitchFamily="2" charset="0"/>
                <a:ea typeface="Linik Sans Light" panose="02000503000000020004" pitchFamily="2" charset="0"/>
                <a:cs typeface="Helvetica Neue" panose="02000503000000020004" pitchFamily="2" charset="0"/>
              </a:rPr>
              <a:t>4.0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2B82B3F-744D-EEA1-515C-38745A7CCE10}"/>
              </a:ext>
            </a:extLst>
          </p:cNvPr>
          <p:cNvSpPr/>
          <p:nvPr/>
        </p:nvSpPr>
        <p:spPr>
          <a:xfrm>
            <a:off x="3401317" y="2835857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E1EBBC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Obj + KR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9EA1E47-FCF2-747E-2BC1-AA97F231A539}"/>
              </a:ext>
            </a:extLst>
          </p:cNvPr>
          <p:cNvSpPr/>
          <p:nvPr/>
        </p:nvSpPr>
        <p:spPr>
          <a:xfrm>
            <a:off x="2804933" y="3429184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FFF9BC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Solo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8BE4CF-E8E5-E617-201B-2F5298B8233C}"/>
              </a:ext>
            </a:extLst>
          </p:cNvPr>
          <p:cNvSpPr txBox="1"/>
          <p:nvPr/>
        </p:nvSpPr>
        <p:spPr>
          <a:xfrm>
            <a:off x="1802302" y="1844869"/>
            <a:ext cx="9044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Linik Sans ExtraLight" panose="02000503000000020004" pitchFamily="2" charset="0"/>
                <a:ea typeface="Linik Sans ExtraLight" panose="02000503000000020004" pitchFamily="2" charset="0"/>
              </a:rPr>
              <a:t>Version</a:t>
            </a:r>
            <a:endParaRPr lang="en-US" sz="1200" dirty="0"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2507A45-4182-83DF-3CD9-0CA23B30D7F1}"/>
              </a:ext>
            </a:extLst>
          </p:cNvPr>
          <p:cNvSpPr/>
          <p:nvPr/>
        </p:nvSpPr>
        <p:spPr>
          <a:xfrm>
            <a:off x="919838" y="4700930"/>
            <a:ext cx="10645447" cy="60007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4342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0" dirty="0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E9014D-B0A0-3FF4-6359-0B8468887399}"/>
              </a:ext>
            </a:extLst>
          </p:cNvPr>
          <p:cNvSpPr txBox="1"/>
          <p:nvPr/>
        </p:nvSpPr>
        <p:spPr>
          <a:xfrm>
            <a:off x="971290" y="4275433"/>
            <a:ext cx="1833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40"/>
              </a:spcAft>
            </a:pPr>
            <a:r>
              <a:rPr lang="en-US" dirty="0">
                <a:latin typeface="Linik Sans Light" panose="02000503000000020004" pitchFamily="2" charset="0"/>
                <a:ea typeface="Linik Sans Light" panose="02000503000000020004" pitchFamily="2" charset="0"/>
                <a:cs typeface="Helvetica Neue" panose="02000503000000020004" pitchFamily="2" charset="0"/>
              </a:rPr>
              <a:t>Intelligence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40CC5419-28D6-E89F-54C1-18F1C33DDB24}"/>
              </a:ext>
            </a:extLst>
          </p:cNvPr>
          <p:cNvSpPr/>
          <p:nvPr/>
        </p:nvSpPr>
        <p:spPr>
          <a:xfrm>
            <a:off x="919838" y="5318265"/>
            <a:ext cx="10645447" cy="600075"/>
          </a:xfrm>
          <a:prstGeom prst="roundRect">
            <a:avLst/>
          </a:prstGeom>
          <a:solidFill>
            <a:schemeClr val="accent1">
              <a:lumMod val="40000"/>
              <a:lumOff val="60000"/>
              <a:alpha val="54342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80" dirty="0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F94DD3-58A3-D05A-D1E7-07EC61D80DDE}"/>
              </a:ext>
            </a:extLst>
          </p:cNvPr>
          <p:cNvSpPr txBox="1"/>
          <p:nvPr/>
        </p:nvSpPr>
        <p:spPr>
          <a:xfrm>
            <a:off x="1018791" y="4863758"/>
            <a:ext cx="1833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40"/>
              </a:spcAft>
            </a:pPr>
            <a:r>
              <a:rPr lang="en-US" dirty="0">
                <a:latin typeface="Linik Sans Light" panose="02000503000000020004" pitchFamily="2" charset="0"/>
                <a:ea typeface="Linik Sans Light" panose="02000503000000020004" pitchFamily="2" charset="0"/>
                <a:cs typeface="Helvetica Neue" panose="02000503000000020004" pitchFamily="2" charset="0"/>
              </a:rPr>
              <a:t>Analytics 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34002E5D-B61C-31F4-AFB2-894A67588158}"/>
              </a:ext>
            </a:extLst>
          </p:cNvPr>
          <p:cNvSpPr/>
          <p:nvPr/>
        </p:nvSpPr>
        <p:spPr>
          <a:xfrm>
            <a:off x="5031268" y="2859602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E1EBBC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Metric Target Value/Time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CE1E9B4B-0BF3-6798-1CF4-076D43A1B543}"/>
              </a:ext>
            </a:extLst>
          </p:cNvPr>
          <p:cNvSpPr/>
          <p:nvPr/>
        </p:nvSpPr>
        <p:spPr>
          <a:xfrm>
            <a:off x="8406011" y="3397740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FFF9BC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Agentic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51E1E3F-7C44-62A5-4406-5AFC8CD75B37}"/>
              </a:ext>
            </a:extLst>
          </p:cNvPr>
          <p:cNvSpPr/>
          <p:nvPr/>
        </p:nvSpPr>
        <p:spPr>
          <a:xfrm>
            <a:off x="8389908" y="4027091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B795CF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46800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Dynamic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2BEA76B-692D-EC87-26A3-D8C161C70FB5}"/>
              </a:ext>
            </a:extLst>
          </p:cNvPr>
          <p:cNvSpPr/>
          <p:nvPr/>
        </p:nvSpPr>
        <p:spPr>
          <a:xfrm>
            <a:off x="5678386" y="3406109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FFF9BC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+ Fully Automated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8D81A12-B746-E0B1-5CC6-6FC721BF3B1E}"/>
              </a:ext>
            </a:extLst>
          </p:cNvPr>
          <p:cNvSpPr/>
          <p:nvPr/>
        </p:nvSpPr>
        <p:spPr>
          <a:xfrm>
            <a:off x="4165522" y="3429184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FFF9BC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+ Collaborative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F6D3317-38FC-7288-5AD7-1347FB5BC9D5}"/>
              </a:ext>
            </a:extLst>
          </p:cNvPr>
          <p:cNvSpPr/>
          <p:nvPr/>
        </p:nvSpPr>
        <p:spPr>
          <a:xfrm>
            <a:off x="7167984" y="4028676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B795CF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46800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Intelligent Learning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FA90E86C-841C-1604-B515-E8696257AEE7}"/>
              </a:ext>
            </a:extLst>
          </p:cNvPr>
          <p:cNvSpPr/>
          <p:nvPr/>
        </p:nvSpPr>
        <p:spPr>
          <a:xfrm>
            <a:off x="6347602" y="4638603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FAD8BD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Intelligent Diagnostic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89B15B-743C-2377-119B-B4DC2AA73AD5}"/>
              </a:ext>
            </a:extLst>
          </p:cNvPr>
          <p:cNvSpPr txBox="1"/>
          <p:nvPr/>
        </p:nvSpPr>
        <p:spPr>
          <a:xfrm>
            <a:off x="1018342" y="5460797"/>
            <a:ext cx="18337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440"/>
              </a:spcAft>
            </a:pPr>
            <a:r>
              <a:rPr lang="en-US" dirty="0">
                <a:latin typeface="Linik Sans Light" panose="02000503000000020004" pitchFamily="2" charset="0"/>
                <a:ea typeface="Linik Sans Light" panose="02000503000000020004" pitchFamily="2" charset="0"/>
                <a:cs typeface="Helvetica Neue" panose="02000503000000020004" pitchFamily="2" charset="0"/>
              </a:rPr>
              <a:t>Engagement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DD28D38-C07F-D974-8D70-D8D25BEA0423}"/>
              </a:ext>
            </a:extLst>
          </p:cNvPr>
          <p:cNvSpPr/>
          <p:nvPr/>
        </p:nvSpPr>
        <p:spPr>
          <a:xfrm>
            <a:off x="7712504" y="2827317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E1EBBC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Internal Organizational Context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BE12713-4EB8-0586-DE45-69F31C4425C0}"/>
              </a:ext>
            </a:extLst>
          </p:cNvPr>
          <p:cNvSpPr/>
          <p:nvPr/>
        </p:nvSpPr>
        <p:spPr>
          <a:xfrm>
            <a:off x="5957193" y="4027091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B795CF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46800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AI Chat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D4857DE-8BB5-EB19-3BA8-33441772FBA6}"/>
              </a:ext>
            </a:extLst>
          </p:cNvPr>
          <p:cNvSpPr/>
          <p:nvPr/>
        </p:nvSpPr>
        <p:spPr>
          <a:xfrm>
            <a:off x="4045816" y="5237091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BEE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Team Chat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C1C2E4D1-C787-CE82-F5D2-CD336F0BF833}"/>
              </a:ext>
            </a:extLst>
          </p:cNvPr>
          <p:cNvSpPr/>
          <p:nvPr/>
        </p:nvSpPr>
        <p:spPr>
          <a:xfrm>
            <a:off x="5703773" y="5249440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BEE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Reactions &amp; Collaboration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2AE92378-1E20-4830-41D6-1028D8038A8A}"/>
              </a:ext>
            </a:extLst>
          </p:cNvPr>
          <p:cNvSpPr/>
          <p:nvPr/>
        </p:nvSpPr>
        <p:spPr>
          <a:xfrm>
            <a:off x="8431455" y="5219818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BEE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Interactive boards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FA48D56-58B4-8212-65BC-9E11D3639C9E}"/>
              </a:ext>
            </a:extLst>
          </p:cNvPr>
          <p:cNvSpPr txBox="1"/>
          <p:nvPr/>
        </p:nvSpPr>
        <p:spPr>
          <a:xfrm>
            <a:off x="9336089" y="2358315"/>
            <a:ext cx="19454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</a:rPr>
              <a:t>+ Enterprise On Premise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5DF2F34-93C4-43B8-0169-E2C40848E979}"/>
              </a:ext>
            </a:extLst>
          </p:cNvPr>
          <p:cNvSpPr txBox="1"/>
          <p:nvPr/>
        </p:nvSpPr>
        <p:spPr>
          <a:xfrm>
            <a:off x="5808892" y="2404725"/>
            <a:ext cx="716716" cy="231923"/>
          </a:xfrm>
          <a:prstGeom prst="rect">
            <a:avLst/>
          </a:prstGeom>
          <a:noFill/>
        </p:spPr>
        <p:txBody>
          <a:bodyPr wrap="square" tIns="0" bIns="46800" rtlCol="0" anchor="ctr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</a:rPr>
              <a:t>POC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76C4597-A19B-54A6-7603-75F65DF68AA8}"/>
              </a:ext>
            </a:extLst>
          </p:cNvPr>
          <p:cNvSpPr txBox="1"/>
          <p:nvPr/>
        </p:nvSpPr>
        <p:spPr>
          <a:xfrm>
            <a:off x="7730585" y="2367523"/>
            <a:ext cx="7958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</a:rPr>
              <a:t>+ SaaS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5A55506-A1AB-7C36-D827-4315E3052684}"/>
              </a:ext>
            </a:extLst>
          </p:cNvPr>
          <p:cNvSpPr txBox="1"/>
          <p:nvPr/>
        </p:nvSpPr>
        <p:spPr>
          <a:xfrm>
            <a:off x="2890538" y="2345742"/>
            <a:ext cx="1942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</a:rPr>
              <a:t>MVP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03A081B-2482-46F8-DB7A-DD1448CBEBAE}"/>
              </a:ext>
            </a:extLst>
          </p:cNvPr>
          <p:cNvSpPr/>
          <p:nvPr/>
        </p:nvSpPr>
        <p:spPr>
          <a:xfrm>
            <a:off x="3062075" y="4621519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FAD8BD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Basic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FA5FA2CD-BD60-94CC-E071-98D14E733C5D}"/>
              </a:ext>
            </a:extLst>
          </p:cNvPr>
          <p:cNvSpPr/>
          <p:nvPr/>
        </p:nvSpPr>
        <p:spPr>
          <a:xfrm>
            <a:off x="7832302" y="4689617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FAD8BD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Predictive</a:t>
            </a: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4F114AA5-8997-D377-47F3-19FEBDA624DA}"/>
              </a:ext>
            </a:extLst>
          </p:cNvPr>
          <p:cNvSpPr/>
          <p:nvPr/>
        </p:nvSpPr>
        <p:spPr>
          <a:xfrm>
            <a:off x="5006153" y="4662769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FAD8BD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Enhanced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BDDA760D-7D0D-F3C7-B070-5B68EB9B7606}"/>
              </a:ext>
            </a:extLst>
          </p:cNvPr>
          <p:cNvSpPr/>
          <p:nvPr/>
        </p:nvSpPr>
        <p:spPr>
          <a:xfrm>
            <a:off x="3443012" y="4085975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B795CF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46800"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Programmed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AF9DFD52-9964-0BAA-64D0-6503BC97A35E}"/>
              </a:ext>
            </a:extLst>
          </p:cNvPr>
          <p:cNvSpPr/>
          <p:nvPr/>
        </p:nvSpPr>
        <p:spPr>
          <a:xfrm>
            <a:off x="9920727" y="5249371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BEE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Audio &amp; Video Calling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C971C87F-B36C-B6FE-9E83-DD7A04B913F6}"/>
              </a:ext>
            </a:extLst>
          </p:cNvPr>
          <p:cNvSpPr/>
          <p:nvPr/>
        </p:nvSpPr>
        <p:spPr>
          <a:xfrm>
            <a:off x="6226083" y="2818941"/>
            <a:ext cx="1229615" cy="758896"/>
          </a:xfrm>
          <a:prstGeom prst="roundRect">
            <a:avLst>
              <a:gd name="adj" fmla="val 50000"/>
            </a:avLst>
          </a:prstGeom>
          <a:solidFill>
            <a:srgbClr val="E1EBBC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46800"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Linik Sans Light" panose="02000503000000020004" pitchFamily="2" charset="0"/>
                <a:ea typeface="Linik Sans Light" panose="02000503000000020004" pitchFamily="2" charset="0"/>
                <a:cs typeface="Helvetica Neue Medium" panose="02000503000000020004" pitchFamily="2" charset="0"/>
              </a:rPr>
              <a:t>Document Uploads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733D2E54-8909-D2F2-E98A-7589DE107D20}"/>
              </a:ext>
            </a:extLst>
          </p:cNvPr>
          <p:cNvSpPr/>
          <p:nvPr/>
        </p:nvSpPr>
        <p:spPr>
          <a:xfrm>
            <a:off x="4832350" y="1424502"/>
            <a:ext cx="2527300" cy="48133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scene3d>
            <a:camera prst="orthographicFront"/>
            <a:lightRig rig="threePt" dir="t"/>
          </a:scene3d>
          <a:sp3d prstMaterial="clear"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endParaRPr lang="en-CA">
              <a:solidFill>
                <a:schemeClr val="tx1"/>
              </a:solidFill>
              <a:latin typeface="Linik Sans" panose="02000503000000020004" pitchFamily="2" charset="0"/>
              <a:ea typeface="Linik Sans" panose="02000503000000020004" pitchFamily="2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73CA96A-5E0C-422E-0845-DED886DE7E78}"/>
              </a:ext>
            </a:extLst>
          </p:cNvPr>
          <p:cNvSpPr txBox="1"/>
          <p:nvPr/>
        </p:nvSpPr>
        <p:spPr>
          <a:xfrm>
            <a:off x="911225" y="2458521"/>
            <a:ext cx="12586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Linik Sans ExtraLight" panose="02000503000000020004" pitchFamily="2" charset="0"/>
                <a:ea typeface="Linik Sans ExtraLight" panose="02000503000000020004" pitchFamily="2" charset="0"/>
              </a:rPr>
              <a:t>Feature Set</a:t>
            </a:r>
            <a:endParaRPr lang="en-US" sz="1200" dirty="0"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DA18DDB-84EC-6587-E926-5D71A2631E4B}"/>
              </a:ext>
            </a:extLst>
          </p:cNvPr>
          <p:cNvCxnSpPr>
            <a:cxnSpLocks/>
          </p:cNvCxnSpPr>
          <p:nvPr/>
        </p:nvCxnSpPr>
        <p:spPr>
          <a:xfrm>
            <a:off x="1341911" y="1947884"/>
            <a:ext cx="1377538" cy="83094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906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7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8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9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10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2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3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4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50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60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700"/>
                            </p:stCondLst>
                            <p:childTnLst>
                              <p:par>
                                <p:cTn id="1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80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90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00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10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20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17" grpId="0" animBg="1"/>
      <p:bldP spid="9" grpId="0"/>
      <p:bldP spid="15" grpId="0" animBg="1"/>
      <p:bldP spid="20" grpId="0" animBg="1"/>
      <p:bldP spid="14" grpId="0" animBg="1"/>
      <p:bldP spid="16" grpId="0" animBg="1"/>
      <p:bldP spid="6" grpId="0"/>
      <p:bldP spid="7" grpId="0"/>
      <p:bldP spid="10" grpId="0"/>
      <p:bldP spid="11" grpId="0"/>
      <p:bldP spid="21" grpId="0"/>
      <p:bldP spid="24" grpId="0" animBg="1"/>
      <p:bldP spid="25" grpId="0" animBg="1"/>
      <p:bldP spid="41" grpId="0"/>
      <p:bldP spid="36" grpId="0" animBg="1"/>
      <p:bldP spid="38" grpId="0"/>
      <p:bldP spid="39" grpId="0" animBg="1"/>
      <p:bldP spid="43" grpId="0"/>
      <p:bldP spid="44" grpId="0" animBg="1"/>
      <p:bldP spid="48" grpId="0" animBg="1"/>
      <p:bldP spid="28" grpId="0" animBg="1"/>
      <p:bldP spid="47" grpId="0" animBg="1"/>
      <p:bldP spid="46" grpId="0" animBg="1"/>
      <p:bldP spid="51" grpId="0" animBg="1"/>
      <p:bldP spid="52" grpId="0" animBg="1"/>
      <p:bldP spid="53" grpId="0"/>
      <p:bldP spid="54" grpId="0" animBg="1"/>
      <p:bldP spid="55" grpId="0" animBg="1"/>
      <p:bldP spid="26" grpId="0" animBg="1"/>
      <p:bldP spid="56" grpId="0" animBg="1"/>
      <p:bldP spid="57" grpId="0" animBg="1"/>
      <p:bldP spid="58" grpId="0"/>
      <p:bldP spid="68" grpId="0"/>
      <p:bldP spid="69" grpId="0"/>
      <p:bldP spid="70" grpId="0"/>
      <p:bldP spid="27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67" grpId="0" animBg="1"/>
      <p:bldP spid="9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EC6C5-2E0B-5D47-D192-5D15BB272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02C51E-3BE5-C201-C567-6CC76CE4D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638" y="3789760"/>
            <a:ext cx="3153276" cy="206800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44DA2F4-EED5-154C-B53B-9EB76FE9FE04}"/>
              </a:ext>
            </a:extLst>
          </p:cNvPr>
          <p:cNvSpPr/>
          <p:nvPr/>
        </p:nvSpPr>
        <p:spPr>
          <a:xfrm>
            <a:off x="9142147" y="4480628"/>
            <a:ext cx="705852" cy="753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E7A243-01C3-033F-8518-ECC1E76B67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33" t="31468" r="46582" b="28969"/>
          <a:stretch>
            <a:fillRect/>
          </a:stretch>
        </p:blipFill>
        <p:spPr>
          <a:xfrm rot="237310">
            <a:off x="9077978" y="4432501"/>
            <a:ext cx="705853" cy="818148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8D4A8226-71D0-123C-7FA6-9654280EF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375" y="2160427"/>
            <a:ext cx="5670177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u="none" strike="noStrike" cap="none" normalizeH="0" baseline="0">
                <a:ln>
                  <a:noFill/>
                </a:ln>
                <a:solidFill>
                  <a:srgbClr val="181818"/>
                </a:solidFill>
                <a:effectLst/>
                <a:latin typeface="Linik Sans ExtraLight" panose="02000503000000020004" pitchFamily="2" charset="0"/>
                <a:ea typeface="Linik Sans ExtraLight" panose="02000503000000020004" pitchFamily="2" charset="0"/>
              </a:rPr>
              <a:t>“Ideas are easy.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>
              <a:solidFill>
                <a:srgbClr val="181818"/>
              </a:solidFill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u="none" strike="noStrike" cap="none" normalizeH="0" baseline="0">
                <a:ln>
                  <a:noFill/>
                </a:ln>
                <a:solidFill>
                  <a:srgbClr val="181818"/>
                </a:solidFill>
                <a:effectLst/>
                <a:latin typeface="Linik Sans ExtraLight" panose="02000503000000020004" pitchFamily="2" charset="0"/>
                <a:ea typeface="Linik Sans ExtraLight" panose="02000503000000020004" pitchFamily="2" charset="0"/>
              </a:rPr>
              <a:t>Execution is everything.”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80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inik Sans ExtraLight" panose="02000503000000020004" pitchFamily="2" charset="0"/>
                <a:ea typeface="Linik Sans ExtraLight" panose="02000503000000020004" pitchFamily="2" charset="0"/>
              </a:rPr>
            </a:br>
            <a:r>
              <a:rPr kumimoji="0" lang="en-US" altLang="en-US" sz="280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Linik Sans ExtraLight" panose="02000503000000020004" pitchFamily="2" charset="0"/>
                <a:ea typeface="Linik Sans ExtraLight" panose="02000503000000020004" pitchFamily="2" charset="0"/>
              </a:rPr>
              <a:t>John Doerr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80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inik Sans" panose="02000503000000020004" pitchFamily="2" charset="0"/>
              <a:ea typeface="Linik Sans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60A7D1-439B-D739-4561-86DBF854332F}"/>
              </a:ext>
            </a:extLst>
          </p:cNvPr>
          <p:cNvSpPr txBox="1"/>
          <p:nvPr/>
        </p:nvSpPr>
        <p:spPr>
          <a:xfrm>
            <a:off x="8872932" y="5742733"/>
            <a:ext cx="3682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sz="1800" dirty="0">
                <a:solidFill>
                  <a:schemeClr val="accent1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info@goalytics.io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E7FB12-372C-1674-A11C-450011C0EBB1}"/>
              </a:ext>
            </a:extLst>
          </p:cNvPr>
          <p:cNvSpPr txBox="1"/>
          <p:nvPr/>
        </p:nvSpPr>
        <p:spPr>
          <a:xfrm>
            <a:off x="4047565" y="2043953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/>
              <a:t>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941D7A-D8A5-5F6F-A3D6-FAADBB3F0CE8}"/>
              </a:ext>
            </a:extLst>
          </p:cNvPr>
          <p:cNvSpPr txBox="1"/>
          <p:nvPr/>
        </p:nvSpPr>
        <p:spPr>
          <a:xfrm>
            <a:off x="5342966" y="2855259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/>
              <a:t>👍</a:t>
            </a:r>
          </a:p>
        </p:txBody>
      </p:sp>
    </p:spTree>
    <p:extLst>
      <p:ext uri="{BB962C8B-B14F-4D97-AF65-F5344CB8AC3E}">
        <p14:creationId xmlns:p14="http://schemas.microsoft.com/office/powerpoint/2010/main" val="182545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B44158B-AC22-860C-36C6-A83CF29C6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25E2E1CA-04DD-95B6-D108-7E53CFF18552}"/>
              </a:ext>
            </a:extLst>
          </p:cNvPr>
          <p:cNvSpPr/>
          <p:nvPr/>
        </p:nvSpPr>
        <p:spPr>
          <a:xfrm>
            <a:off x="9916886" y="228600"/>
            <a:ext cx="2090057" cy="566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C54114-0ECB-6D59-7055-B8C38C608B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Linik Sans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2DE166A-9305-7F6F-994B-EC7649F56FCA}"/>
              </a:ext>
            </a:extLst>
          </p:cNvPr>
          <p:cNvSpPr/>
          <p:nvPr/>
        </p:nvSpPr>
        <p:spPr>
          <a:xfrm>
            <a:off x="1314107" y="1770911"/>
            <a:ext cx="9930384" cy="4561016"/>
          </a:xfrm>
          <a:prstGeom prst="roundRect">
            <a:avLst>
              <a:gd name="adj" fmla="val 1124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F5092C-E7EA-7798-327C-2D8EA7623F9E}"/>
              </a:ext>
            </a:extLst>
          </p:cNvPr>
          <p:cNvSpPr txBox="1"/>
          <p:nvPr/>
        </p:nvSpPr>
        <p:spPr>
          <a:xfrm>
            <a:off x="4450640" y="5745451"/>
            <a:ext cx="4684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Linik Sans ExtraLight" panose="02000503000000020004" pitchFamily="2" charset="0"/>
                <a:ea typeface="Linik Sans ExtraLight" panose="02000503000000020004" pitchFamily="2" charset="0"/>
              </a:rPr>
              <a:t>Powered by GI (Goalytics Intelligence)</a:t>
            </a:r>
            <a:endParaRPr lang="en-US">
              <a:solidFill>
                <a:schemeClr val="tx1"/>
              </a:solidFill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76CFF-9AAA-AC58-9F03-CE171FB7562E}"/>
              </a:ext>
            </a:extLst>
          </p:cNvPr>
          <p:cNvSpPr txBox="1"/>
          <p:nvPr/>
        </p:nvSpPr>
        <p:spPr>
          <a:xfrm>
            <a:off x="829252" y="680275"/>
            <a:ext cx="250100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>
                <a:latin typeface="Linik Sans ExtraLight" panose="02000503000000020004" pitchFamily="2" charset="0"/>
                <a:ea typeface="Linik Sans ExtraLight" panose="02000503000000020004" pitchFamily="2" charset="0"/>
              </a:rPr>
              <a:t>Key Features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68D47CE-2BFD-A269-042D-5D0280C818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188116" y="6308226"/>
            <a:ext cx="2743200" cy="365125"/>
          </a:xfrm>
        </p:spPr>
        <p:txBody>
          <a:bodyPr/>
          <a:lstStyle/>
          <a:p>
            <a:fld id="{AC87CFD4-2F37-B443-9471-D71D3B49670C}" type="slidenum">
              <a:rPr lang="en-CA" sz="1800">
                <a:latin typeface="Linik Sans Light" panose="02000503000000020004" pitchFamily="2" charset="0"/>
                <a:ea typeface="Linik Sans Light" panose="02000503000000020004" pitchFamily="2" charset="0"/>
              </a:rPr>
              <a:t>14</a:t>
            </a:fld>
            <a:endParaRPr lang="en-CA" sz="1800">
              <a:latin typeface="Linik Sans Light" panose="02000503000000020004" pitchFamily="2" charset="0"/>
              <a:ea typeface="Linik Sans Light" panose="020005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CC452-690C-1C00-1416-5BAB70644A94}"/>
              </a:ext>
            </a:extLst>
          </p:cNvPr>
          <p:cNvSpPr txBox="1"/>
          <p:nvPr/>
        </p:nvSpPr>
        <p:spPr>
          <a:xfrm>
            <a:off x="849375" y="1187450"/>
            <a:ext cx="22028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latin typeface="Linik Sans ExtraLight" panose="02000503000000020004" pitchFamily="2" charset="0"/>
                <a:ea typeface="Linik Sans ExtraLight" panose="02000503000000020004" pitchFamily="2" charset="0"/>
              </a:rPr>
              <a:t>What We’ll Demo</a:t>
            </a:r>
            <a:endParaRPr lang="en-US" sz="1800">
              <a:latin typeface="Linik Sans ExtraLight" panose="02000503000000020004" pitchFamily="2" charset="0"/>
              <a:ea typeface="Linik Sans ExtraLight" panose="02000503000000020004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E3C9D4-CBEE-80B6-737F-B093C6310B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6654" r="80703" b="-1"/>
          <a:stretch>
            <a:fillRect/>
          </a:stretch>
        </p:blipFill>
        <p:spPr>
          <a:xfrm>
            <a:off x="3842804" y="5496937"/>
            <a:ext cx="609968" cy="859889"/>
          </a:xfrm>
          <a:prstGeom prst="rect">
            <a:avLst/>
          </a:prstGeom>
        </p:spPr>
      </p:pic>
      <p:pic>
        <p:nvPicPr>
          <p:cNvPr id="4" name="Picture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F3BDD8F2-7056-EF59-95D1-C165E36DF7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81" r="3163"/>
          <a:stretch>
            <a:fillRect/>
          </a:stretch>
        </p:blipFill>
        <p:spPr>
          <a:xfrm>
            <a:off x="8826500" y="2022475"/>
            <a:ext cx="2167072" cy="3400425"/>
          </a:xfrm>
          <a:prstGeom prst="rect">
            <a:avLst/>
          </a:prstGeom>
        </p:spPr>
      </p:pic>
      <p:pic>
        <p:nvPicPr>
          <p:cNvPr id="12" name="Picture 11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FD63F534-6B0D-1090-5525-EA9CE9CA75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794" y="2041488"/>
            <a:ext cx="2214234" cy="3406514"/>
          </a:xfrm>
          <a:prstGeom prst="rect">
            <a:avLst/>
          </a:prstGeom>
        </p:spPr>
      </p:pic>
      <p:pic>
        <p:nvPicPr>
          <p:cNvPr id="18" name="Picture 17" descr="A screenshot of a phone&#10;&#10;AI-generated content may be incorrect.">
            <a:extLst>
              <a:ext uri="{FF2B5EF4-FFF2-40B4-BE49-F238E27FC236}">
                <a16:creationId xmlns:a16="http://schemas.microsoft.com/office/drawing/2014/main" id="{82F8FBCF-2EE4-8B6D-9A09-9E57F40112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2050" y="2060575"/>
            <a:ext cx="2252627" cy="34166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34FC491-D3BC-09B9-8C0D-DFE446A4D6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5861" y="2060575"/>
            <a:ext cx="2219733" cy="33671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A608EC2-AAD4-63DC-1FDC-B49A400CCB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22476" y="407773"/>
            <a:ext cx="1856563" cy="37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3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>
            <a:latin typeface="Linik Sans Light" panose="02000503000000020004" pitchFamily="2" charset="0"/>
            <a:ea typeface="Linik Sans Light" panose="02000503000000020004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34604</TotalTime>
  <Words>2208</Words>
  <Application>Microsoft Macintosh PowerPoint</Application>
  <PresentationFormat>Widescreen</PresentationFormat>
  <Paragraphs>271</Paragraphs>
  <Slides>14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Linik Sans Light</vt:lpstr>
      <vt:lpstr>Linik Sans Medium</vt:lpstr>
      <vt:lpstr>Linik Sans ExtraLight</vt:lpstr>
      <vt:lpstr>Arial</vt:lpstr>
      <vt:lpstr>Linik Sans</vt:lpstr>
      <vt:lpstr>Calibri</vt:lpstr>
      <vt:lpstr>System Font Regular</vt:lpstr>
      <vt:lpstr>Aptos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Roadmap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Nida Mehtab</cp:lastModifiedBy>
  <cp:revision>51</cp:revision>
  <dcterms:modified xsi:type="dcterms:W3CDTF">2025-12-21T23:21:39Z</dcterms:modified>
</cp:coreProperties>
</file>